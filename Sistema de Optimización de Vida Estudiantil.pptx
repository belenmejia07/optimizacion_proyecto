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68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002F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002F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232" y="5096703"/>
            <a:ext cx="8779837" cy="7853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4029" y="5096703"/>
            <a:ext cx="8779837" cy="7853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73792" y="1959364"/>
            <a:ext cx="7696200" cy="0"/>
          </a:xfrm>
          <a:custGeom>
            <a:avLst/>
            <a:gdLst/>
            <a:ahLst/>
            <a:cxnLst/>
            <a:rect l="l" t="t" r="r" b="b"/>
            <a:pathLst>
              <a:path w="7696200">
                <a:moveTo>
                  <a:pt x="0" y="0"/>
                </a:moveTo>
                <a:lnTo>
                  <a:pt x="7696101" y="0"/>
                </a:lnTo>
              </a:path>
            </a:pathLst>
          </a:custGeom>
          <a:ln w="23559">
            <a:solidFill>
              <a:srgbClr val="0CC8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002F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002F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877" y="803374"/>
            <a:ext cx="18292344" cy="98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002F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52191" y="4772494"/>
            <a:ext cx="13591540" cy="2974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4586" y="1460688"/>
            <a:ext cx="1554926" cy="20967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890628" y="3881160"/>
            <a:ext cx="16222980" cy="273494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5411470" marR="5080" indent="-5399405">
              <a:lnSpc>
                <a:spcPts val="9890"/>
              </a:lnSpc>
              <a:spcBef>
                <a:spcPts val="1720"/>
              </a:spcBef>
            </a:pPr>
            <a:r>
              <a:rPr sz="9500" spc="75" dirty="0">
                <a:solidFill>
                  <a:srgbClr val="0A2B52"/>
                </a:solidFill>
                <a:latin typeface="Times New Roman"/>
                <a:cs typeface="Times New Roman"/>
              </a:rPr>
              <a:t>Sistema</a:t>
            </a:r>
            <a:r>
              <a:rPr sz="9500" spc="275" dirty="0">
                <a:solidFill>
                  <a:srgbClr val="0A2B52"/>
                </a:solidFill>
                <a:latin typeface="Times New Roman"/>
                <a:cs typeface="Times New Roman"/>
              </a:rPr>
              <a:t> </a:t>
            </a:r>
            <a:r>
              <a:rPr sz="9500" spc="80" dirty="0">
                <a:solidFill>
                  <a:srgbClr val="012B66"/>
                </a:solidFill>
                <a:latin typeface="Times New Roman"/>
                <a:cs typeface="Times New Roman"/>
              </a:rPr>
              <a:t>de</a:t>
            </a:r>
            <a:r>
              <a:rPr sz="9500" spc="-315" dirty="0">
                <a:solidFill>
                  <a:srgbClr val="012B66"/>
                </a:solidFill>
                <a:latin typeface="Times New Roman"/>
                <a:cs typeface="Times New Roman"/>
              </a:rPr>
              <a:t> </a:t>
            </a:r>
            <a:r>
              <a:rPr sz="9500" dirty="0">
                <a:solidFill>
                  <a:srgbClr val="002F60"/>
                </a:solidFill>
                <a:latin typeface="Times New Roman"/>
                <a:cs typeface="Times New Roman"/>
              </a:rPr>
              <a:t>Optimización</a:t>
            </a:r>
            <a:r>
              <a:rPr sz="9500" spc="434" dirty="0">
                <a:solidFill>
                  <a:srgbClr val="002F60"/>
                </a:solidFill>
                <a:latin typeface="Times New Roman"/>
                <a:cs typeface="Times New Roman"/>
              </a:rPr>
              <a:t> </a:t>
            </a:r>
            <a:r>
              <a:rPr sz="9500" spc="80" dirty="0">
                <a:solidFill>
                  <a:srgbClr val="002D5E"/>
                </a:solidFill>
                <a:latin typeface="Times New Roman"/>
                <a:cs typeface="Times New Roman"/>
              </a:rPr>
              <a:t>de</a:t>
            </a:r>
            <a:r>
              <a:rPr sz="9500" spc="-505" dirty="0">
                <a:solidFill>
                  <a:srgbClr val="002D5E"/>
                </a:solidFill>
                <a:latin typeface="Times New Roman"/>
                <a:cs typeface="Times New Roman"/>
              </a:rPr>
              <a:t> </a:t>
            </a:r>
            <a:r>
              <a:rPr sz="9500" spc="-355" dirty="0">
                <a:solidFill>
                  <a:srgbClr val="002F5B"/>
                </a:solidFill>
                <a:latin typeface="Times New Roman"/>
                <a:cs typeface="Times New Roman"/>
              </a:rPr>
              <a:t>Vida </a:t>
            </a:r>
            <a:r>
              <a:rPr sz="9500" spc="90" dirty="0">
                <a:solidFill>
                  <a:srgbClr val="002F60"/>
                </a:solidFill>
                <a:latin typeface="Times New Roman"/>
                <a:cs typeface="Times New Roman"/>
              </a:rPr>
              <a:t>Estudiantil</a:t>
            </a:r>
            <a:endParaRPr sz="9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3933" y="6926879"/>
            <a:ext cx="6466840" cy="288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105"/>
              </a:spcBef>
            </a:pPr>
            <a:r>
              <a:rPr sz="3600" spc="125" dirty="0">
                <a:solidFill>
                  <a:srgbClr val="0F5280"/>
                </a:solidFill>
                <a:latin typeface="Calibri"/>
                <a:cs typeface="Calibri"/>
              </a:rPr>
              <a:t>Proyecto</a:t>
            </a:r>
            <a:r>
              <a:rPr sz="3600" spc="280" dirty="0">
                <a:solidFill>
                  <a:srgbClr val="0F5280"/>
                </a:solidFill>
                <a:latin typeface="Calibri"/>
                <a:cs typeface="Calibri"/>
              </a:rPr>
              <a:t> </a:t>
            </a:r>
            <a:r>
              <a:rPr sz="3600" spc="75" dirty="0">
                <a:solidFill>
                  <a:srgbClr val="074D7C"/>
                </a:solidFill>
                <a:latin typeface="Calibri"/>
                <a:cs typeface="Calibri"/>
              </a:rPr>
              <a:t>Final</a:t>
            </a:r>
            <a:r>
              <a:rPr sz="3600" spc="50" dirty="0">
                <a:solidFill>
                  <a:srgbClr val="074D7C"/>
                </a:solidFill>
                <a:latin typeface="Calibri"/>
                <a:cs typeface="Calibri"/>
              </a:rPr>
              <a:t> </a:t>
            </a:r>
            <a:r>
              <a:rPr sz="3600" spc="-1635" dirty="0">
                <a:solidFill>
                  <a:srgbClr val="1A485E"/>
                </a:solidFill>
                <a:latin typeface="Calibri"/>
                <a:cs typeface="Calibri"/>
              </a:rPr>
              <a:t>—</a:t>
            </a:r>
            <a:r>
              <a:rPr sz="3600" spc="310" dirty="0">
                <a:solidFill>
                  <a:srgbClr val="1A485E"/>
                </a:solidFill>
                <a:latin typeface="Calibri"/>
                <a:cs typeface="Calibri"/>
              </a:rPr>
              <a:t> </a:t>
            </a:r>
            <a:r>
              <a:rPr sz="3600" spc="165" dirty="0">
                <a:solidFill>
                  <a:srgbClr val="05548C"/>
                </a:solidFill>
                <a:latin typeface="Calibri"/>
                <a:cs typeface="Calibri"/>
              </a:rPr>
              <a:t>OptiVida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3600">
              <a:latin typeface="Calibri"/>
              <a:cs typeface="Calibri"/>
            </a:endParaRPr>
          </a:p>
          <a:p>
            <a:pPr marL="12700" marR="5080" indent="1014730">
              <a:lnSpc>
                <a:spcPct val="107100"/>
              </a:lnSpc>
            </a:pPr>
            <a:r>
              <a:rPr sz="2550" spc="100" dirty="0">
                <a:solidFill>
                  <a:srgbClr val="414141"/>
                </a:solidFill>
                <a:latin typeface="Calibri"/>
                <a:cs typeface="Calibri"/>
              </a:rPr>
              <a:t>Estudiante:</a:t>
            </a:r>
            <a:r>
              <a:rPr sz="2550" spc="16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64646"/>
                </a:solidFill>
                <a:latin typeface="Calibri"/>
                <a:cs typeface="Calibri"/>
              </a:rPr>
              <a:t>Belen</a:t>
            </a:r>
            <a:r>
              <a:rPr sz="2550" spc="5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64646"/>
                </a:solidFill>
                <a:latin typeface="Calibri"/>
                <a:cs typeface="Calibri"/>
              </a:rPr>
              <a:t>Mejia</a:t>
            </a:r>
            <a:r>
              <a:rPr sz="2550" spc="-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Calibri"/>
                <a:cs typeface="Calibri"/>
              </a:rPr>
              <a:t>Medina </a:t>
            </a:r>
            <a:r>
              <a:rPr sz="2550" spc="100" dirty="0">
                <a:solidFill>
                  <a:srgbClr val="484848"/>
                </a:solidFill>
                <a:latin typeface="Calibri"/>
                <a:cs typeface="Calibri"/>
              </a:rPr>
              <a:t>Asignatura:</a:t>
            </a:r>
            <a:r>
              <a:rPr sz="2550" spc="16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550" spc="50" dirty="0">
                <a:solidFill>
                  <a:srgbClr val="424242"/>
                </a:solidFill>
                <a:latin typeface="Calibri"/>
                <a:cs typeface="Calibri"/>
              </a:rPr>
              <a:t>Optimización</a:t>
            </a:r>
            <a:r>
              <a:rPr sz="2550" spc="-1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550" spc="-90" dirty="0">
                <a:solidFill>
                  <a:srgbClr val="565656"/>
                </a:solidFill>
                <a:latin typeface="Calibri"/>
                <a:cs typeface="Calibri"/>
              </a:rPr>
              <a:t>|</a:t>
            </a:r>
            <a:r>
              <a:rPr sz="2550" spc="-28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2550" spc="85" dirty="0">
                <a:solidFill>
                  <a:srgbClr val="464646"/>
                </a:solidFill>
                <a:latin typeface="Calibri"/>
                <a:cs typeface="Calibri"/>
              </a:rPr>
              <a:t>Semestre:</a:t>
            </a:r>
            <a:r>
              <a:rPr sz="2550" spc="5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550" spc="-645" dirty="0">
                <a:solidFill>
                  <a:srgbClr val="4F4F4F"/>
                </a:solidFill>
                <a:latin typeface="Calibri"/>
                <a:cs typeface="Calibri"/>
              </a:rPr>
              <a:t>1</a:t>
            </a:r>
            <a:r>
              <a:rPr sz="2550" spc="434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550" spc="-260" dirty="0">
                <a:solidFill>
                  <a:srgbClr val="484848"/>
                </a:solidFill>
                <a:latin typeface="Calibri"/>
                <a:cs typeface="Calibri"/>
              </a:rPr>
              <a:t>/</a:t>
            </a:r>
            <a:r>
              <a:rPr sz="2550" spc="3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550" spc="114" dirty="0">
                <a:solidFill>
                  <a:srgbClr val="494949"/>
                </a:solidFill>
                <a:latin typeface="Calibri"/>
                <a:cs typeface="Calibri"/>
              </a:rPr>
              <a:t>2026</a:t>
            </a:r>
            <a:endParaRPr sz="2550">
              <a:latin typeface="Calibri"/>
              <a:cs typeface="Calibri"/>
            </a:endParaRPr>
          </a:p>
          <a:p>
            <a:pPr marL="1875789" marR="560070" indent="-1336040">
              <a:lnSpc>
                <a:spcPct val="103099"/>
              </a:lnSpc>
              <a:spcBef>
                <a:spcPts val="250"/>
              </a:spcBef>
            </a:pPr>
            <a:r>
              <a:rPr sz="2550" spc="110" dirty="0">
                <a:solidFill>
                  <a:srgbClr val="494949"/>
                </a:solidFill>
                <a:latin typeface="Calibri"/>
                <a:cs typeface="Calibri"/>
              </a:rPr>
              <a:t>Docente:</a:t>
            </a:r>
            <a:r>
              <a:rPr sz="2550" spc="18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F3F3F"/>
                </a:solidFill>
                <a:latin typeface="Calibri"/>
                <a:cs typeface="Calibri"/>
              </a:rPr>
              <a:t>Huayta</a:t>
            </a:r>
            <a:r>
              <a:rPr sz="2550" spc="1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F3F3F"/>
                </a:solidFill>
                <a:latin typeface="Calibri"/>
                <a:cs typeface="Calibri"/>
              </a:rPr>
              <a:t>Paucar</a:t>
            </a:r>
            <a:r>
              <a:rPr sz="2550" spc="37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14141"/>
                </a:solidFill>
                <a:latin typeface="Calibri"/>
                <a:cs typeface="Calibri"/>
              </a:rPr>
              <a:t>Santos</a:t>
            </a:r>
            <a:r>
              <a:rPr sz="2550" spc="49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363636"/>
                </a:solidFill>
                <a:latin typeface="Calibri"/>
                <a:cs typeface="Calibri"/>
              </a:rPr>
              <a:t>Carlos </a:t>
            </a:r>
            <a:r>
              <a:rPr sz="2550" dirty="0">
                <a:solidFill>
                  <a:srgbClr val="444444"/>
                </a:solidFill>
                <a:latin typeface="Calibri"/>
                <a:cs typeface="Calibri"/>
              </a:rPr>
              <a:t>Santa</a:t>
            </a:r>
            <a:r>
              <a:rPr sz="2550" spc="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550" spc="85" dirty="0">
                <a:solidFill>
                  <a:srgbClr val="444444"/>
                </a:solidFill>
                <a:latin typeface="Calibri"/>
                <a:cs typeface="Calibri"/>
              </a:rPr>
              <a:t>Cruz</a:t>
            </a:r>
            <a:r>
              <a:rPr sz="2550" spc="1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550" spc="-835" dirty="0">
                <a:solidFill>
                  <a:srgbClr val="4D4D4D"/>
                </a:solidFill>
                <a:latin typeface="Calibri"/>
                <a:cs typeface="Calibri"/>
              </a:rPr>
              <a:t>—</a:t>
            </a:r>
            <a:r>
              <a:rPr sz="2550" spc="254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464646"/>
                </a:solidFill>
                <a:latin typeface="Calibri"/>
                <a:cs typeface="Calibri"/>
              </a:rPr>
              <a:t>Bolivia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232" y="4452744"/>
            <a:ext cx="8779837" cy="78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4029" y="4452744"/>
            <a:ext cx="8779837" cy="785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73792" y="1951511"/>
            <a:ext cx="7366634" cy="0"/>
          </a:xfrm>
          <a:custGeom>
            <a:avLst/>
            <a:gdLst/>
            <a:ahLst/>
            <a:cxnLst/>
            <a:rect l="l" t="t" r="r" b="b"/>
            <a:pathLst>
              <a:path w="7366634">
                <a:moveTo>
                  <a:pt x="0" y="0"/>
                </a:moveTo>
                <a:lnTo>
                  <a:pt x="7366268" y="0"/>
                </a:lnTo>
              </a:path>
            </a:pathLst>
          </a:custGeom>
          <a:ln w="23559">
            <a:solidFill>
              <a:srgbClr val="0CC8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5037" y="4963199"/>
            <a:ext cx="479043" cy="4790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43128" y="4978906"/>
            <a:ext cx="486896" cy="431924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30"/>
              </a:spcBef>
            </a:pPr>
            <a:r>
              <a:rPr sz="6150" spc="50" dirty="0">
                <a:solidFill>
                  <a:srgbClr val="002D62"/>
                </a:solidFill>
              </a:rPr>
              <a:t>Contexto</a:t>
            </a:r>
            <a:r>
              <a:rPr sz="6150" spc="35" dirty="0">
                <a:solidFill>
                  <a:srgbClr val="002D62"/>
                </a:solidFill>
              </a:rPr>
              <a:t> </a:t>
            </a:r>
            <a:r>
              <a:rPr sz="6150" dirty="0">
                <a:solidFill>
                  <a:srgbClr val="002D5E"/>
                </a:solidFill>
              </a:rPr>
              <a:t>del</a:t>
            </a:r>
            <a:r>
              <a:rPr sz="6150" spc="-285" dirty="0">
                <a:solidFill>
                  <a:srgbClr val="002D5E"/>
                </a:solidFill>
              </a:rPr>
              <a:t> </a:t>
            </a:r>
            <a:r>
              <a:rPr sz="6150" spc="-10" dirty="0">
                <a:solidFill>
                  <a:srgbClr val="052D64"/>
                </a:solidFill>
              </a:rPr>
              <a:t>Proyecto</a:t>
            </a:r>
            <a:endParaRPr sz="6150"/>
          </a:p>
        </p:txBody>
      </p:sp>
      <p:sp>
        <p:nvSpPr>
          <p:cNvPr id="9" name="object 9"/>
          <p:cNvSpPr txBox="1"/>
          <p:nvPr/>
        </p:nvSpPr>
        <p:spPr>
          <a:xfrm>
            <a:off x="1314846" y="5478314"/>
            <a:ext cx="7954009" cy="248920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3100" spc="-10" dirty="0">
                <a:solidFill>
                  <a:srgbClr val="005089"/>
                </a:solidFill>
                <a:latin typeface="Cambria"/>
                <a:cs typeface="Cambria"/>
              </a:rPr>
              <a:t>Introducción</a:t>
            </a:r>
            <a:endParaRPr sz="3100">
              <a:latin typeface="Cambria"/>
              <a:cs typeface="Cambria"/>
            </a:endParaRPr>
          </a:p>
          <a:p>
            <a:pPr marL="20320" marR="5080">
              <a:lnSpc>
                <a:spcPct val="112200"/>
              </a:lnSpc>
              <a:spcBef>
                <a:spcPts val="900"/>
              </a:spcBef>
            </a:pPr>
            <a:r>
              <a:rPr sz="2450" spc="114" dirty="0">
                <a:latin typeface="Calibri"/>
                <a:cs typeface="Calibri"/>
              </a:rPr>
              <a:t>OptiVida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spc="114" dirty="0">
                <a:solidFill>
                  <a:srgbClr val="0C0C0C"/>
                </a:solidFill>
                <a:latin typeface="Calibri"/>
                <a:cs typeface="Calibri"/>
              </a:rPr>
              <a:t>es</a:t>
            </a:r>
            <a:r>
              <a:rPr sz="2450" spc="17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450" spc="110" dirty="0">
                <a:latin typeface="Calibri"/>
                <a:cs typeface="Calibri"/>
              </a:rPr>
              <a:t>un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130" dirty="0">
                <a:latin typeface="Calibri"/>
                <a:cs typeface="Calibri"/>
              </a:rPr>
              <a:t>sistema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spc="145" dirty="0">
                <a:latin typeface="Calibri"/>
                <a:cs typeface="Calibri"/>
              </a:rPr>
              <a:t>de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60" dirty="0">
                <a:solidFill>
                  <a:srgbClr val="131313"/>
                </a:solidFill>
                <a:latin typeface="Calibri"/>
                <a:cs typeface="Calibri"/>
              </a:rPr>
              <a:t>4</a:t>
            </a:r>
            <a:r>
              <a:rPr sz="2450" spc="15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450" spc="55" dirty="0">
                <a:latin typeface="Calibri"/>
                <a:cs typeface="Calibri"/>
              </a:rPr>
              <a:t>módulos</a:t>
            </a:r>
            <a:r>
              <a:rPr sz="2450" spc="335" dirty="0">
                <a:latin typeface="Calibri"/>
                <a:cs typeface="Calibri"/>
              </a:rPr>
              <a:t> </a:t>
            </a:r>
            <a:r>
              <a:rPr sz="2450" spc="60" dirty="0">
                <a:solidFill>
                  <a:srgbClr val="080808"/>
                </a:solidFill>
                <a:latin typeface="Calibri"/>
                <a:cs typeface="Calibri"/>
              </a:rPr>
              <a:t>de</a:t>
            </a:r>
            <a:r>
              <a:rPr sz="2450" spc="27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450" spc="70" dirty="0">
                <a:latin typeface="Calibri"/>
                <a:cs typeface="Calibri"/>
              </a:rPr>
              <a:t>optimización </a:t>
            </a:r>
            <a:r>
              <a:rPr sz="2450" spc="110" dirty="0">
                <a:latin typeface="Calibri"/>
                <a:cs typeface="Calibri"/>
              </a:rPr>
              <a:t>interconectados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95" dirty="0">
                <a:latin typeface="Calibri"/>
                <a:cs typeface="Calibri"/>
              </a:rPr>
              <a:t>que</a:t>
            </a:r>
            <a:r>
              <a:rPr sz="2450" spc="170" dirty="0">
                <a:latin typeface="Calibri"/>
                <a:cs typeface="Calibri"/>
              </a:rPr>
              <a:t> </a:t>
            </a:r>
            <a:r>
              <a:rPr sz="2450" spc="80" dirty="0">
                <a:latin typeface="Calibri"/>
                <a:cs typeface="Calibri"/>
              </a:rPr>
              <a:t>gestionan</a:t>
            </a:r>
            <a:r>
              <a:rPr sz="2450" spc="2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10" dirty="0">
                <a:latin typeface="Calibri"/>
                <a:cs typeface="Calibri"/>
              </a:rPr>
              <a:t>vida</a:t>
            </a:r>
            <a:r>
              <a:rPr sz="2450" spc="40" dirty="0">
                <a:latin typeface="Calibri"/>
                <a:cs typeface="Calibri"/>
              </a:rPr>
              <a:t> </a:t>
            </a:r>
            <a:r>
              <a:rPr sz="2450" spc="50" dirty="0">
                <a:latin typeface="Calibri"/>
                <a:cs typeface="Calibri"/>
              </a:rPr>
              <a:t>estudiantil </a:t>
            </a:r>
            <a:r>
              <a:rPr sz="2450" spc="80" dirty="0">
                <a:latin typeface="Calibri"/>
                <a:cs typeface="Calibri"/>
              </a:rPr>
              <a:t>mensual</a:t>
            </a:r>
            <a:r>
              <a:rPr sz="2450" spc="210" dirty="0">
                <a:latin typeface="Calibri"/>
                <a:cs typeface="Calibri"/>
              </a:rPr>
              <a:t> </a:t>
            </a:r>
            <a:r>
              <a:rPr sz="2450" spc="85" dirty="0">
                <a:latin typeface="Calibri"/>
                <a:cs typeface="Calibri"/>
              </a:rPr>
              <a:t>de</a:t>
            </a:r>
            <a:r>
              <a:rPr sz="2450" spc="3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forma</a:t>
            </a:r>
            <a:r>
              <a:rPr sz="2450" spc="1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integral.</a:t>
            </a:r>
            <a:r>
              <a:rPr sz="2450" spc="229" dirty="0">
                <a:latin typeface="Calibri"/>
                <a:cs typeface="Calibri"/>
              </a:rPr>
              <a:t> </a:t>
            </a:r>
            <a:r>
              <a:rPr sz="2450" spc="170" dirty="0">
                <a:latin typeface="Calibri"/>
                <a:cs typeface="Calibri"/>
              </a:rPr>
              <a:t>Cada</a:t>
            </a:r>
            <a:r>
              <a:rPr sz="2450" spc="1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módulo</a:t>
            </a:r>
            <a:r>
              <a:rPr sz="2450" spc="280" dirty="0">
                <a:latin typeface="Calibri"/>
                <a:cs typeface="Calibri"/>
              </a:rPr>
              <a:t> </a:t>
            </a:r>
            <a:r>
              <a:rPr sz="2450" spc="114" dirty="0">
                <a:latin typeface="Calibri"/>
                <a:cs typeface="Calibri"/>
              </a:rPr>
              <a:t>recibe</a:t>
            </a:r>
            <a:r>
              <a:rPr sz="2450" spc="250" dirty="0">
                <a:latin typeface="Calibri"/>
                <a:cs typeface="Calibri"/>
              </a:rPr>
              <a:t> </a:t>
            </a:r>
            <a:r>
              <a:rPr sz="2450" spc="80" dirty="0">
                <a:latin typeface="Calibri"/>
                <a:cs typeface="Calibri"/>
              </a:rPr>
              <a:t>datos</a:t>
            </a:r>
            <a:r>
              <a:rPr sz="2450" spc="335" dirty="0">
                <a:latin typeface="Calibri"/>
                <a:cs typeface="Calibri"/>
              </a:rPr>
              <a:t> </a:t>
            </a:r>
            <a:r>
              <a:rPr sz="2450" spc="60" dirty="0">
                <a:latin typeface="Calibri"/>
                <a:cs typeface="Calibri"/>
              </a:rPr>
              <a:t>del </a:t>
            </a:r>
            <a:r>
              <a:rPr sz="2450" dirty="0">
                <a:latin typeface="Calibri"/>
                <a:cs typeface="Calibri"/>
              </a:rPr>
              <a:t>anterior</a:t>
            </a:r>
            <a:r>
              <a:rPr sz="2450" spc="3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formando</a:t>
            </a:r>
            <a:r>
              <a:rPr sz="2450" spc="245" dirty="0">
                <a:latin typeface="Calibri"/>
                <a:cs typeface="Calibri"/>
              </a:rPr>
              <a:t> </a:t>
            </a:r>
            <a:r>
              <a:rPr sz="2450" spc="110" dirty="0">
                <a:latin typeface="Calibri"/>
                <a:cs typeface="Calibri"/>
              </a:rPr>
              <a:t>un</a:t>
            </a:r>
            <a:r>
              <a:rPr sz="2450" spc="1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flujo</a:t>
            </a:r>
            <a:r>
              <a:rPr sz="2450" spc="220" dirty="0">
                <a:latin typeface="Calibri"/>
                <a:cs typeface="Calibri"/>
              </a:rPr>
              <a:t> </a:t>
            </a:r>
            <a:r>
              <a:rPr sz="2450" spc="75" dirty="0">
                <a:latin typeface="Calibri"/>
                <a:cs typeface="Calibri"/>
              </a:rPr>
              <a:t>coherente</a:t>
            </a:r>
            <a:r>
              <a:rPr sz="2450" spc="409" dirty="0">
                <a:latin typeface="Calibri"/>
                <a:cs typeface="Calibri"/>
              </a:rPr>
              <a:t> </a:t>
            </a:r>
            <a:r>
              <a:rPr sz="2450" spc="85" dirty="0">
                <a:solidFill>
                  <a:srgbClr val="080808"/>
                </a:solidFill>
                <a:latin typeface="Calibri"/>
                <a:cs typeface="Calibri"/>
              </a:rPr>
              <a:t>de</a:t>
            </a:r>
            <a:r>
              <a:rPr sz="2450" spc="32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450" spc="105" dirty="0">
                <a:latin typeface="Calibri"/>
                <a:cs typeface="Calibri"/>
              </a:rPr>
              <a:t>decisiones.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46472" y="5478314"/>
            <a:ext cx="7574915" cy="248920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3100" dirty="0" err="1">
                <a:solidFill>
                  <a:srgbClr val="004272"/>
                </a:solidFill>
                <a:latin typeface="Cambria"/>
                <a:cs typeface="Cambria"/>
              </a:rPr>
              <a:t>Qué</a:t>
            </a:r>
            <a:r>
              <a:rPr sz="3100" spc="-95" dirty="0">
                <a:solidFill>
                  <a:srgbClr val="004272"/>
                </a:solidFill>
                <a:latin typeface="Cambria"/>
                <a:cs typeface="Cambria"/>
              </a:rPr>
              <a:t> </a:t>
            </a:r>
            <a:r>
              <a:rPr sz="3100" dirty="0">
                <a:solidFill>
                  <a:srgbClr val="00497E"/>
                </a:solidFill>
                <a:latin typeface="Cambria"/>
                <a:cs typeface="Cambria"/>
              </a:rPr>
              <a:t>problema</a:t>
            </a:r>
            <a:r>
              <a:rPr sz="3100" spc="-55" dirty="0">
                <a:solidFill>
                  <a:srgbClr val="00497E"/>
                </a:solidFill>
                <a:latin typeface="Cambria"/>
                <a:cs typeface="Cambria"/>
              </a:rPr>
              <a:t> </a:t>
            </a:r>
            <a:r>
              <a:rPr sz="3100" spc="-20" dirty="0">
                <a:solidFill>
                  <a:srgbClr val="005293"/>
                </a:solidFill>
                <a:latin typeface="Cambria"/>
                <a:cs typeface="Cambria"/>
              </a:rPr>
              <a:t>resuelve</a:t>
            </a:r>
            <a:r>
              <a:rPr sz="3100" spc="-90" dirty="0">
                <a:solidFill>
                  <a:srgbClr val="005293"/>
                </a:solidFill>
                <a:latin typeface="Cambria"/>
                <a:cs typeface="Cambria"/>
              </a:rPr>
              <a:t> </a:t>
            </a:r>
            <a:r>
              <a:rPr sz="3100" spc="-10" dirty="0">
                <a:solidFill>
                  <a:srgbClr val="01548A"/>
                </a:solidFill>
                <a:latin typeface="Cambria"/>
                <a:cs typeface="Cambria"/>
              </a:rPr>
              <a:t>esto?</a:t>
            </a:r>
            <a:endParaRPr sz="3100" dirty="0">
              <a:latin typeface="Cambria"/>
              <a:cs typeface="Cambria"/>
            </a:endParaRPr>
          </a:p>
          <a:p>
            <a:pPr marL="12700" marR="5080" indent="1905">
              <a:lnSpc>
                <a:spcPct val="112200"/>
              </a:lnSpc>
              <a:spcBef>
                <a:spcPts val="900"/>
              </a:spcBef>
            </a:pPr>
            <a:r>
              <a:rPr sz="2450" spc="125" dirty="0">
                <a:latin typeface="Calibri"/>
                <a:cs typeface="Calibri"/>
              </a:rPr>
              <a:t>Ayuda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14" dirty="0">
                <a:solidFill>
                  <a:srgbClr val="0C0C0C"/>
                </a:solidFill>
                <a:latin typeface="Calibri"/>
                <a:cs typeface="Calibri"/>
              </a:rPr>
              <a:t>a</a:t>
            </a:r>
            <a:r>
              <a:rPr sz="2450" spc="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450" spc="90" dirty="0">
                <a:latin typeface="Calibri"/>
                <a:cs typeface="Calibri"/>
              </a:rPr>
              <a:t>estudiantes</a:t>
            </a:r>
            <a:r>
              <a:rPr sz="2450" spc="320" dirty="0">
                <a:latin typeface="Calibri"/>
                <a:cs typeface="Calibri"/>
              </a:rPr>
              <a:t> </a:t>
            </a:r>
            <a:r>
              <a:rPr sz="2450" spc="105" dirty="0">
                <a:latin typeface="Calibri"/>
                <a:cs typeface="Calibri"/>
              </a:rPr>
              <a:t>con</a:t>
            </a:r>
            <a:r>
              <a:rPr sz="2450" spc="175" dirty="0">
                <a:latin typeface="Calibri"/>
                <a:cs typeface="Calibri"/>
              </a:rPr>
              <a:t> </a:t>
            </a:r>
            <a:r>
              <a:rPr sz="2450" spc="70" dirty="0">
                <a:latin typeface="Calibri"/>
                <a:cs typeface="Calibri"/>
              </a:rPr>
              <a:t>dificultades</a:t>
            </a:r>
            <a:r>
              <a:rPr sz="2450" spc="405" dirty="0">
                <a:latin typeface="Calibri"/>
                <a:cs typeface="Calibri"/>
              </a:rPr>
              <a:t> </a:t>
            </a:r>
            <a:r>
              <a:rPr sz="2450" spc="85" dirty="0">
                <a:latin typeface="Calibri"/>
                <a:cs typeface="Calibri"/>
              </a:rPr>
              <a:t>para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organizarse, </a:t>
            </a:r>
            <a:r>
              <a:rPr sz="2450" spc="95" dirty="0">
                <a:latin typeface="Calibri"/>
                <a:cs typeface="Calibri"/>
              </a:rPr>
              <a:t>comer</a:t>
            </a:r>
            <a:r>
              <a:rPr sz="2450" spc="220" dirty="0">
                <a:latin typeface="Calibri"/>
                <a:cs typeface="Calibri"/>
              </a:rPr>
              <a:t> </a:t>
            </a:r>
            <a:r>
              <a:rPr sz="2450" spc="55" dirty="0">
                <a:latin typeface="Calibri"/>
                <a:cs typeface="Calibri"/>
              </a:rPr>
              <a:t>saludable</a:t>
            </a:r>
            <a:r>
              <a:rPr sz="2450" spc="300" dirty="0">
                <a:latin typeface="Calibri"/>
                <a:cs typeface="Calibri"/>
              </a:rPr>
              <a:t> </a:t>
            </a:r>
            <a:r>
              <a:rPr sz="2450" spc="65" dirty="0">
                <a:solidFill>
                  <a:srgbClr val="0C0C0C"/>
                </a:solidFill>
                <a:latin typeface="Calibri"/>
                <a:cs typeface="Calibri"/>
              </a:rPr>
              <a:t>con</a:t>
            </a:r>
            <a:r>
              <a:rPr sz="2450" spc="28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450" spc="55" dirty="0">
                <a:solidFill>
                  <a:srgbClr val="080808"/>
                </a:solidFill>
                <a:latin typeface="Calibri"/>
                <a:cs typeface="Calibri"/>
              </a:rPr>
              <a:t>nutrientes</a:t>
            </a:r>
            <a:r>
              <a:rPr sz="2450" spc="32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450" spc="60" dirty="0">
                <a:latin typeface="Calibri"/>
                <a:cs typeface="Calibri"/>
              </a:rPr>
              <a:t>óptimos,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60" dirty="0">
                <a:latin typeface="Calibri"/>
                <a:cs typeface="Calibri"/>
              </a:rPr>
              <a:t>balancear</a:t>
            </a:r>
            <a:r>
              <a:rPr sz="2450" spc="29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el </a:t>
            </a:r>
            <a:r>
              <a:rPr sz="2450" spc="105" dirty="0">
                <a:latin typeface="Calibri"/>
                <a:cs typeface="Calibri"/>
              </a:rPr>
              <a:t>presupuesto</a:t>
            </a:r>
            <a:r>
              <a:rPr sz="2450" spc="254" dirty="0">
                <a:latin typeface="Calibri"/>
                <a:cs typeface="Calibri"/>
              </a:rPr>
              <a:t> </a:t>
            </a:r>
            <a:r>
              <a:rPr sz="2450" spc="110" dirty="0">
                <a:solidFill>
                  <a:srgbClr val="0A0A0A"/>
                </a:solidFill>
                <a:latin typeface="Calibri"/>
                <a:cs typeface="Calibri"/>
              </a:rPr>
              <a:t>y</a:t>
            </a:r>
            <a:r>
              <a:rPr sz="2450" spc="20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450" spc="50" dirty="0">
                <a:latin typeface="Calibri"/>
                <a:cs typeface="Calibri"/>
              </a:rPr>
              <a:t>priorizar</a:t>
            </a:r>
            <a:r>
              <a:rPr sz="2450" spc="2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el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spc="75" dirty="0">
                <a:latin typeface="Calibri"/>
                <a:cs typeface="Calibri"/>
              </a:rPr>
              <a:t>tiempo</a:t>
            </a:r>
            <a:r>
              <a:rPr sz="2450" spc="165" dirty="0">
                <a:latin typeface="Calibri"/>
                <a:cs typeface="Calibri"/>
              </a:rPr>
              <a:t> </a:t>
            </a:r>
            <a:r>
              <a:rPr sz="2450" spc="85" dirty="0">
                <a:latin typeface="Calibri"/>
                <a:cs typeface="Calibri"/>
              </a:rPr>
              <a:t>de</a:t>
            </a:r>
            <a:r>
              <a:rPr sz="2450" spc="225" dirty="0">
                <a:latin typeface="Calibri"/>
                <a:cs typeface="Calibri"/>
              </a:rPr>
              <a:t> </a:t>
            </a:r>
            <a:r>
              <a:rPr sz="2450" spc="100" dirty="0">
                <a:latin typeface="Calibri"/>
                <a:cs typeface="Calibri"/>
              </a:rPr>
              <a:t>recreación</a:t>
            </a:r>
            <a:r>
              <a:rPr sz="2450" spc="185" dirty="0">
                <a:latin typeface="Calibri"/>
                <a:cs typeface="Calibri"/>
              </a:rPr>
              <a:t> </a:t>
            </a:r>
            <a:r>
              <a:rPr sz="2450" spc="60" dirty="0">
                <a:solidFill>
                  <a:srgbClr val="161616"/>
                </a:solidFill>
                <a:latin typeface="Calibri"/>
                <a:cs typeface="Calibri"/>
              </a:rPr>
              <a:t>y </a:t>
            </a:r>
            <a:r>
              <a:rPr sz="2450" spc="55" dirty="0">
                <a:latin typeface="Calibri"/>
                <a:cs typeface="Calibri"/>
              </a:rPr>
              <a:t>estudio.</a:t>
            </a:r>
            <a:endParaRPr sz="2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73792" y="1959364"/>
            <a:ext cx="7508240" cy="0"/>
          </a:xfrm>
          <a:custGeom>
            <a:avLst/>
            <a:gdLst/>
            <a:ahLst/>
            <a:cxnLst/>
            <a:rect l="l" t="t" r="r" b="b"/>
            <a:pathLst>
              <a:path w="7508240">
                <a:moveTo>
                  <a:pt x="0" y="0"/>
                </a:moveTo>
                <a:lnTo>
                  <a:pt x="7507625" y="0"/>
                </a:lnTo>
              </a:path>
            </a:pathLst>
          </a:custGeom>
          <a:ln w="23559">
            <a:solidFill>
              <a:srgbClr val="0CC8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solidFill>
                  <a:srgbClr val="002F5B"/>
                </a:solidFill>
              </a:rPr>
              <a:t>Objetivos</a:t>
            </a:r>
            <a:r>
              <a:rPr spc="-245" dirty="0">
                <a:solidFill>
                  <a:srgbClr val="002F5B"/>
                </a:solidFill>
              </a:rPr>
              <a:t> </a:t>
            </a:r>
            <a:r>
              <a:rPr spc="-40" dirty="0">
                <a:solidFill>
                  <a:srgbClr val="002F59"/>
                </a:solidFill>
              </a:rPr>
              <a:t>del</a:t>
            </a:r>
            <a:r>
              <a:rPr spc="-370" dirty="0">
                <a:solidFill>
                  <a:srgbClr val="002F59"/>
                </a:solidFill>
              </a:rPr>
              <a:t> </a:t>
            </a:r>
            <a:r>
              <a:rPr spc="-85" dirty="0">
                <a:solidFill>
                  <a:srgbClr val="032F4D"/>
                </a:solidFill>
              </a:rPr>
              <a:t>Proyecto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3405" marR="5080" indent="-561340">
              <a:lnSpc>
                <a:spcPts val="3220"/>
              </a:lnSpc>
              <a:spcBef>
                <a:spcPts val="100"/>
              </a:spcBef>
              <a:tabLst>
                <a:tab pos="577215" algn="l"/>
              </a:tabLst>
            </a:pPr>
            <a:r>
              <a:rPr lang="en-US" spc="-50" dirty="0">
                <a:solidFill>
                  <a:srgbClr val="1AC4A1"/>
                </a:solidFill>
              </a:rPr>
              <a:t>- </a:t>
            </a:r>
            <a:r>
              <a:rPr dirty="0">
                <a:solidFill>
                  <a:srgbClr val="1AC4A1"/>
                </a:solidFill>
              </a:rPr>
              <a:t>		</a:t>
            </a:r>
            <a:r>
              <a:rPr spc="85" dirty="0">
                <a:solidFill>
                  <a:srgbClr val="070707"/>
                </a:solidFill>
              </a:rPr>
              <a:t>Interfaz</a:t>
            </a:r>
            <a:r>
              <a:rPr spc="40" dirty="0">
                <a:solidFill>
                  <a:srgbClr val="070707"/>
                </a:solidFill>
              </a:rPr>
              <a:t> </a:t>
            </a:r>
            <a:r>
              <a:rPr spc="85" dirty="0"/>
              <a:t>Creativa:</a:t>
            </a:r>
            <a:r>
              <a:rPr spc="170" dirty="0"/>
              <a:t> </a:t>
            </a:r>
            <a:r>
              <a:rPr dirty="0">
                <a:solidFill>
                  <a:srgbClr val="080808"/>
                </a:solidFill>
              </a:rPr>
              <a:t>Permitir</a:t>
            </a:r>
            <a:r>
              <a:rPr spc="254" dirty="0">
                <a:solidFill>
                  <a:srgbClr val="080808"/>
                </a:solidFill>
              </a:rPr>
              <a:t> </a:t>
            </a:r>
            <a:r>
              <a:rPr dirty="0">
                <a:solidFill>
                  <a:srgbClr val="050505"/>
                </a:solidFill>
              </a:rPr>
              <a:t>al</a:t>
            </a:r>
            <a:r>
              <a:rPr spc="-15" dirty="0">
                <a:solidFill>
                  <a:srgbClr val="050505"/>
                </a:solidFill>
              </a:rPr>
              <a:t> </a:t>
            </a:r>
            <a:r>
              <a:rPr dirty="0">
                <a:solidFill>
                  <a:srgbClr val="0A0A0A"/>
                </a:solidFill>
              </a:rPr>
              <a:t>usuario</a:t>
            </a:r>
            <a:r>
              <a:rPr spc="195" dirty="0">
                <a:solidFill>
                  <a:srgbClr val="0A0A0A"/>
                </a:solidFill>
              </a:rPr>
              <a:t> </a:t>
            </a:r>
            <a:r>
              <a:rPr dirty="0"/>
              <a:t>interactuar</a:t>
            </a:r>
            <a:r>
              <a:rPr spc="320" dirty="0"/>
              <a:t> </a:t>
            </a:r>
            <a:r>
              <a:rPr spc="85" dirty="0"/>
              <a:t>de</a:t>
            </a:r>
            <a:r>
              <a:rPr spc="105" dirty="0"/>
              <a:t> </a:t>
            </a:r>
            <a:r>
              <a:rPr dirty="0"/>
              <a:t>manera</a:t>
            </a:r>
            <a:r>
              <a:rPr spc="125" dirty="0"/>
              <a:t> </a:t>
            </a:r>
            <a:r>
              <a:rPr dirty="0"/>
              <a:t>amigable</a:t>
            </a:r>
            <a:r>
              <a:rPr spc="250" dirty="0"/>
              <a:t> </a:t>
            </a:r>
            <a:r>
              <a:rPr spc="105" dirty="0"/>
              <a:t>con</a:t>
            </a:r>
            <a:r>
              <a:rPr spc="60" dirty="0"/>
              <a:t> </a:t>
            </a:r>
            <a:r>
              <a:rPr dirty="0"/>
              <a:t>el</a:t>
            </a:r>
            <a:r>
              <a:rPr spc="65" dirty="0"/>
              <a:t> </a:t>
            </a:r>
            <a:r>
              <a:rPr spc="75" dirty="0"/>
              <a:t>sistema</a:t>
            </a:r>
            <a:r>
              <a:rPr spc="110" dirty="0"/>
              <a:t> </a:t>
            </a:r>
            <a:r>
              <a:rPr spc="-10" dirty="0"/>
              <a:t>mediante </a:t>
            </a:r>
            <a:r>
              <a:rPr spc="65" dirty="0">
                <a:solidFill>
                  <a:srgbClr val="0A0A0A"/>
                </a:solidFill>
              </a:rPr>
              <a:t>una</a:t>
            </a:r>
            <a:r>
              <a:rPr spc="-55" dirty="0">
                <a:solidFill>
                  <a:srgbClr val="0A0A0A"/>
                </a:solidFill>
              </a:rPr>
              <a:t> </a:t>
            </a:r>
            <a:r>
              <a:rPr dirty="0"/>
              <a:t>interfaz</a:t>
            </a:r>
            <a:r>
              <a:rPr spc="210" dirty="0"/>
              <a:t> </a:t>
            </a:r>
            <a:r>
              <a:rPr spc="-10" dirty="0"/>
              <a:t>intuitiva.</a:t>
            </a:r>
          </a:p>
          <a:p>
            <a:pPr marL="582930" marR="753745" indent="-570865">
              <a:lnSpc>
                <a:spcPct val="109100"/>
              </a:lnSpc>
              <a:spcBef>
                <a:spcPts val="1714"/>
              </a:spcBef>
              <a:tabLst>
                <a:tab pos="577215" algn="l"/>
              </a:tabLst>
            </a:pPr>
            <a:r>
              <a:rPr lang="en-US" spc="-50" dirty="0">
                <a:solidFill>
                  <a:srgbClr val="1AC69E"/>
                </a:solidFill>
              </a:rPr>
              <a:t>-</a:t>
            </a:r>
            <a:r>
              <a:rPr dirty="0">
                <a:solidFill>
                  <a:srgbClr val="1AC69E"/>
                </a:solidFill>
              </a:rPr>
              <a:t>	</a:t>
            </a:r>
            <a:r>
              <a:rPr spc="110" dirty="0"/>
              <a:t>Integración</a:t>
            </a:r>
            <a:r>
              <a:rPr spc="190" dirty="0"/>
              <a:t> </a:t>
            </a:r>
            <a:r>
              <a:rPr spc="114" dirty="0">
                <a:solidFill>
                  <a:srgbClr val="0A0A0A"/>
                </a:solidFill>
              </a:rPr>
              <a:t>de</a:t>
            </a:r>
            <a:r>
              <a:rPr spc="-25" dirty="0">
                <a:solidFill>
                  <a:srgbClr val="0A0A0A"/>
                </a:solidFill>
              </a:rPr>
              <a:t> </a:t>
            </a:r>
            <a:r>
              <a:rPr spc="85" dirty="0"/>
              <a:t>Solvers:</a:t>
            </a:r>
            <a:r>
              <a:rPr spc="190" dirty="0"/>
              <a:t> </a:t>
            </a:r>
            <a:r>
              <a:rPr dirty="0"/>
              <a:t>Implementar</a:t>
            </a:r>
            <a:r>
              <a:rPr spc="425" dirty="0"/>
              <a:t> </a:t>
            </a:r>
            <a:r>
              <a:rPr dirty="0"/>
              <a:t>módulos</a:t>
            </a:r>
            <a:r>
              <a:rPr spc="375" dirty="0"/>
              <a:t> </a:t>
            </a:r>
            <a:r>
              <a:rPr spc="60" dirty="0"/>
              <a:t>que</a:t>
            </a:r>
            <a:r>
              <a:rPr spc="165" dirty="0"/>
              <a:t> </a:t>
            </a:r>
            <a:r>
              <a:rPr dirty="0"/>
              <a:t>permitan</a:t>
            </a:r>
            <a:r>
              <a:rPr spc="225" dirty="0"/>
              <a:t> </a:t>
            </a:r>
            <a:r>
              <a:rPr dirty="0"/>
              <a:t>integrar</a:t>
            </a:r>
            <a:r>
              <a:rPr spc="330" dirty="0"/>
              <a:t> </a:t>
            </a:r>
            <a:r>
              <a:rPr dirty="0"/>
              <a:t>diferentes</a:t>
            </a:r>
            <a:r>
              <a:rPr spc="395" dirty="0"/>
              <a:t> </a:t>
            </a:r>
            <a:r>
              <a:rPr dirty="0"/>
              <a:t>tipos</a:t>
            </a:r>
            <a:r>
              <a:rPr spc="295" dirty="0"/>
              <a:t> </a:t>
            </a:r>
            <a:r>
              <a:rPr spc="60" dirty="0"/>
              <a:t>de </a:t>
            </a:r>
            <a:r>
              <a:rPr dirty="0"/>
              <a:t>optimización:</a:t>
            </a:r>
            <a:r>
              <a:rPr spc="170" dirty="0"/>
              <a:t> </a:t>
            </a:r>
            <a:r>
              <a:rPr spc="-85" dirty="0"/>
              <a:t>LP,</a:t>
            </a:r>
            <a:r>
              <a:rPr spc="-15" dirty="0"/>
              <a:t> </a:t>
            </a:r>
            <a:r>
              <a:rPr dirty="0"/>
              <a:t>MILP</a:t>
            </a:r>
            <a:r>
              <a:rPr spc="120" dirty="0"/>
              <a:t> </a:t>
            </a:r>
            <a:r>
              <a:rPr spc="90" dirty="0"/>
              <a:t>y</a:t>
            </a:r>
            <a:r>
              <a:rPr spc="105" dirty="0"/>
              <a:t> </a:t>
            </a:r>
            <a:r>
              <a:rPr spc="-10" dirty="0"/>
              <a:t>MINLP.</a:t>
            </a:r>
          </a:p>
          <a:p>
            <a:pPr marL="583565" marR="293370" indent="-570230">
              <a:lnSpc>
                <a:spcPct val="113599"/>
              </a:lnSpc>
              <a:spcBef>
                <a:spcPts val="1710"/>
              </a:spcBef>
              <a:tabLst>
                <a:tab pos="582295" algn="l"/>
              </a:tabLst>
            </a:pPr>
            <a:r>
              <a:rPr lang="en-US" sz="2450" spc="-50" dirty="0">
                <a:solidFill>
                  <a:srgbClr val="1AC4A1"/>
                </a:solidFill>
              </a:rPr>
              <a:t>-</a:t>
            </a:r>
            <a:r>
              <a:rPr sz="2450" dirty="0">
                <a:solidFill>
                  <a:srgbClr val="1AC4A1"/>
                </a:solidFill>
              </a:rPr>
              <a:t>	</a:t>
            </a:r>
            <a:r>
              <a:rPr sz="2450" spc="170" dirty="0"/>
              <a:t>Claridad</a:t>
            </a:r>
            <a:r>
              <a:rPr sz="2450" spc="-60" dirty="0"/>
              <a:t> </a:t>
            </a:r>
            <a:r>
              <a:rPr sz="2450" spc="210" dirty="0"/>
              <a:t>de</a:t>
            </a:r>
            <a:r>
              <a:rPr sz="2450" spc="-185" dirty="0"/>
              <a:t> </a:t>
            </a:r>
            <a:r>
              <a:rPr sz="2450" spc="130" dirty="0"/>
              <a:t>Resultados:</a:t>
            </a:r>
            <a:r>
              <a:rPr sz="2450" spc="204" dirty="0"/>
              <a:t> </a:t>
            </a:r>
            <a:r>
              <a:rPr sz="2450" dirty="0"/>
              <a:t>Mostrar</a:t>
            </a:r>
            <a:r>
              <a:rPr sz="2450" spc="260" dirty="0"/>
              <a:t> </a:t>
            </a:r>
            <a:r>
              <a:rPr sz="2450" dirty="0"/>
              <a:t>los</a:t>
            </a:r>
            <a:r>
              <a:rPr sz="2450" spc="210" dirty="0"/>
              <a:t> </a:t>
            </a:r>
            <a:r>
              <a:rPr sz="2450" spc="65" dirty="0"/>
              <a:t>resultados</a:t>
            </a:r>
            <a:r>
              <a:rPr sz="2450" spc="385" dirty="0"/>
              <a:t> </a:t>
            </a:r>
            <a:r>
              <a:rPr sz="2450" spc="85" dirty="0"/>
              <a:t>calculados</a:t>
            </a:r>
            <a:r>
              <a:rPr sz="2450" spc="330" dirty="0"/>
              <a:t> </a:t>
            </a:r>
            <a:r>
              <a:rPr sz="2450" dirty="0"/>
              <a:t>al</a:t>
            </a:r>
            <a:r>
              <a:rPr sz="2450" spc="-5" dirty="0"/>
              <a:t> </a:t>
            </a:r>
            <a:r>
              <a:rPr sz="2450" spc="65" dirty="0">
                <a:solidFill>
                  <a:srgbClr val="0C0C0C"/>
                </a:solidFill>
              </a:rPr>
              <a:t>usuario</a:t>
            </a:r>
            <a:r>
              <a:rPr sz="2450" spc="210" dirty="0">
                <a:solidFill>
                  <a:srgbClr val="0C0C0C"/>
                </a:solidFill>
              </a:rPr>
              <a:t> </a:t>
            </a:r>
            <a:r>
              <a:rPr sz="2450" spc="85" dirty="0"/>
              <a:t>de</a:t>
            </a:r>
            <a:r>
              <a:rPr sz="2450" spc="175" dirty="0"/>
              <a:t> </a:t>
            </a:r>
            <a:r>
              <a:rPr sz="2450" spc="100" dirty="0"/>
              <a:t>una</a:t>
            </a:r>
            <a:r>
              <a:rPr sz="2450" spc="15" dirty="0"/>
              <a:t> </a:t>
            </a:r>
            <a:r>
              <a:rPr sz="2450" spc="75" dirty="0">
                <a:solidFill>
                  <a:srgbClr val="0C0C0C"/>
                </a:solidFill>
              </a:rPr>
              <a:t>manera</a:t>
            </a:r>
            <a:r>
              <a:rPr sz="2450" spc="80" dirty="0">
                <a:solidFill>
                  <a:srgbClr val="0C0C0C"/>
                </a:solidFill>
              </a:rPr>
              <a:t> </a:t>
            </a:r>
            <a:r>
              <a:rPr sz="2450" spc="60" dirty="0"/>
              <a:t>fácil</a:t>
            </a:r>
            <a:r>
              <a:rPr sz="2450" spc="90" dirty="0"/>
              <a:t> </a:t>
            </a:r>
            <a:r>
              <a:rPr sz="2450" spc="70" dirty="0"/>
              <a:t>de </a:t>
            </a:r>
            <a:r>
              <a:rPr sz="2450" spc="90" dirty="0"/>
              <a:t>comprender</a:t>
            </a:r>
            <a:r>
              <a:rPr sz="2450" spc="310" dirty="0"/>
              <a:t> </a:t>
            </a:r>
            <a:r>
              <a:rPr sz="2450" spc="85" dirty="0"/>
              <a:t>y</a:t>
            </a:r>
            <a:r>
              <a:rPr sz="2450" spc="225" dirty="0"/>
              <a:t> </a:t>
            </a:r>
            <a:r>
              <a:rPr sz="2450" spc="-10" dirty="0"/>
              <a:t>aplicar.</a:t>
            </a:r>
            <a:endParaRPr sz="2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7285D"/>
                </a:solidFill>
              </a:rPr>
              <a:t>Estructura</a:t>
            </a:r>
            <a:r>
              <a:rPr spc="-204" dirty="0">
                <a:solidFill>
                  <a:srgbClr val="07285D"/>
                </a:solidFill>
              </a:rPr>
              <a:t> </a:t>
            </a:r>
            <a:r>
              <a:rPr dirty="0">
                <a:solidFill>
                  <a:srgbClr val="00316D"/>
                </a:solidFill>
              </a:rPr>
              <a:t>del</a:t>
            </a:r>
            <a:r>
              <a:rPr spc="-345" dirty="0">
                <a:solidFill>
                  <a:srgbClr val="00316D"/>
                </a:solidFill>
              </a:rPr>
              <a:t> </a:t>
            </a:r>
            <a:r>
              <a:rPr spc="-10" dirty="0"/>
              <a:t>Sistema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8568" y="4315702"/>
            <a:ext cx="3843654" cy="36798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50" dirty="0">
                <a:solidFill>
                  <a:srgbClr val="001F56"/>
                </a:solidFill>
                <a:latin typeface="Times New Roman"/>
                <a:cs typeface="Times New Roman"/>
              </a:rPr>
              <a:t>Interfaz</a:t>
            </a:r>
            <a:r>
              <a:rPr sz="2800" spc="-135" dirty="0">
                <a:solidFill>
                  <a:srgbClr val="001F56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2F60"/>
                </a:solidFill>
                <a:latin typeface="Times New Roman"/>
                <a:cs typeface="Times New Roman"/>
              </a:rPr>
              <a:t>(Menú</a:t>
            </a:r>
            <a:r>
              <a:rPr sz="2800" spc="-70" dirty="0">
                <a:solidFill>
                  <a:srgbClr val="002F6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A264B"/>
                </a:solidFill>
                <a:latin typeface="Times New Roman"/>
                <a:cs typeface="Times New Roman"/>
              </a:rPr>
              <a:t>Principal)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45"/>
              </a:spcBef>
            </a:pPr>
            <a:endParaRPr sz="2800">
              <a:latin typeface="Times New Roman"/>
              <a:cs typeface="Times New Roman"/>
            </a:endParaRPr>
          </a:p>
          <a:p>
            <a:pPr marL="601345" indent="-200660">
              <a:lnSpc>
                <a:spcPct val="100000"/>
              </a:lnSpc>
              <a:buChar char="•"/>
              <a:tabLst>
                <a:tab pos="601345" algn="l"/>
              </a:tabLst>
            </a:pPr>
            <a:r>
              <a:rPr sz="2300" spc="-10" dirty="0">
                <a:latin typeface="Cambria"/>
                <a:cs typeface="Cambria"/>
              </a:rPr>
              <a:t>Inicio</a:t>
            </a:r>
            <a:endParaRPr sz="2300">
              <a:latin typeface="Cambria"/>
              <a:cs typeface="Cambria"/>
            </a:endParaRPr>
          </a:p>
          <a:p>
            <a:pPr marL="593725" indent="-193040">
              <a:lnSpc>
                <a:spcPct val="100000"/>
              </a:lnSpc>
              <a:spcBef>
                <a:spcPts val="455"/>
              </a:spcBef>
              <a:buClr>
                <a:srgbClr val="0A0A0A"/>
              </a:buClr>
              <a:buChar char="•"/>
              <a:tabLst>
                <a:tab pos="593725" algn="l"/>
              </a:tabLst>
            </a:pPr>
            <a:r>
              <a:rPr sz="2300" dirty="0">
                <a:latin typeface="Cambria"/>
                <a:cs typeface="Cambria"/>
              </a:rPr>
              <a:t>MI—</a:t>
            </a:r>
            <a:r>
              <a:rPr sz="2300" spc="200" dirty="0">
                <a:latin typeface="Cambria"/>
                <a:cs typeface="Cambria"/>
              </a:rPr>
              <a:t> </a:t>
            </a:r>
            <a:r>
              <a:rPr sz="2300" spc="114" dirty="0">
                <a:latin typeface="Cambria"/>
                <a:cs typeface="Cambria"/>
              </a:rPr>
              <a:t>Presupuesto</a:t>
            </a:r>
            <a:r>
              <a:rPr sz="2300" spc="85" dirty="0">
                <a:latin typeface="Cambria"/>
                <a:cs typeface="Cambria"/>
              </a:rPr>
              <a:t> </a:t>
            </a:r>
            <a:r>
              <a:rPr sz="2300" spc="-20" dirty="0">
                <a:solidFill>
                  <a:srgbClr val="0E0E0E"/>
                </a:solidFill>
                <a:latin typeface="Cambria"/>
                <a:cs typeface="Cambria"/>
              </a:rPr>
              <a:t>(LP)</a:t>
            </a:r>
            <a:endParaRPr sz="2300">
              <a:latin typeface="Cambria"/>
              <a:cs typeface="Cambria"/>
            </a:endParaRPr>
          </a:p>
          <a:p>
            <a:pPr marL="601980" indent="-201295">
              <a:lnSpc>
                <a:spcPct val="100000"/>
              </a:lnSpc>
              <a:spcBef>
                <a:spcPts val="580"/>
              </a:spcBef>
              <a:buChar char="•"/>
              <a:tabLst>
                <a:tab pos="601980" algn="l"/>
              </a:tabLst>
            </a:pPr>
            <a:r>
              <a:rPr sz="2300" spc="90" dirty="0">
                <a:latin typeface="Cambria"/>
                <a:cs typeface="Cambria"/>
              </a:rPr>
              <a:t>M2</a:t>
            </a:r>
            <a:r>
              <a:rPr sz="2300" spc="55" dirty="0">
                <a:latin typeface="Cambria"/>
                <a:cs typeface="Cambria"/>
              </a:rPr>
              <a:t> </a:t>
            </a:r>
            <a:r>
              <a:rPr sz="2300" spc="-944" dirty="0">
                <a:solidFill>
                  <a:srgbClr val="0E0E0E"/>
                </a:solidFill>
                <a:latin typeface="Cambria"/>
                <a:cs typeface="Cambria"/>
              </a:rPr>
              <a:t>—</a:t>
            </a:r>
            <a:r>
              <a:rPr sz="2300" spc="32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2300" spc="140" dirty="0">
                <a:latin typeface="Cambria"/>
                <a:cs typeface="Cambria"/>
              </a:rPr>
              <a:t>Comidas</a:t>
            </a:r>
            <a:r>
              <a:rPr sz="2300" spc="285" dirty="0">
                <a:latin typeface="Cambria"/>
                <a:cs typeface="Cambria"/>
              </a:rPr>
              <a:t> </a:t>
            </a:r>
            <a:r>
              <a:rPr sz="2300" spc="-20" dirty="0">
                <a:latin typeface="Cambria"/>
                <a:cs typeface="Cambria"/>
              </a:rPr>
              <a:t>(LP)</a:t>
            </a:r>
            <a:endParaRPr sz="2300">
              <a:latin typeface="Cambria"/>
              <a:cs typeface="Cambria"/>
            </a:endParaRPr>
          </a:p>
          <a:p>
            <a:pPr marL="601980" indent="-201295">
              <a:lnSpc>
                <a:spcPct val="100000"/>
              </a:lnSpc>
              <a:spcBef>
                <a:spcPts val="580"/>
              </a:spcBef>
              <a:buChar char="•"/>
              <a:tabLst>
                <a:tab pos="601980" algn="l"/>
              </a:tabLst>
            </a:pPr>
            <a:r>
              <a:rPr sz="2300" spc="60" dirty="0">
                <a:latin typeface="Cambria"/>
                <a:cs typeface="Cambria"/>
              </a:rPr>
              <a:t>M3</a:t>
            </a:r>
            <a:r>
              <a:rPr sz="2300" spc="114" dirty="0">
                <a:latin typeface="Cambria"/>
                <a:cs typeface="Cambria"/>
              </a:rPr>
              <a:t> </a:t>
            </a:r>
            <a:r>
              <a:rPr sz="2300" spc="-944" dirty="0">
                <a:solidFill>
                  <a:srgbClr val="0C0C0C"/>
                </a:solidFill>
                <a:latin typeface="Cambria"/>
                <a:cs typeface="Cambria"/>
              </a:rPr>
              <a:t>—</a:t>
            </a:r>
            <a:r>
              <a:rPr sz="2300" spc="3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300" spc="90" dirty="0">
                <a:latin typeface="Cambria"/>
                <a:cs typeface="Cambria"/>
              </a:rPr>
              <a:t>Estudios</a:t>
            </a:r>
            <a:r>
              <a:rPr sz="2300" spc="20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(MILP)</a:t>
            </a:r>
            <a:endParaRPr sz="2300">
              <a:latin typeface="Cambria"/>
              <a:cs typeface="Cambria"/>
            </a:endParaRPr>
          </a:p>
          <a:p>
            <a:pPr marL="593725" indent="-193040">
              <a:lnSpc>
                <a:spcPct val="100000"/>
              </a:lnSpc>
              <a:spcBef>
                <a:spcPts val="455"/>
              </a:spcBef>
              <a:buClr>
                <a:srgbClr val="0A0A0A"/>
              </a:buClr>
              <a:buChar char="•"/>
              <a:tabLst>
                <a:tab pos="593725" algn="l"/>
              </a:tabLst>
            </a:pPr>
            <a:r>
              <a:rPr sz="2300" spc="105" dirty="0">
                <a:latin typeface="Cambria"/>
                <a:cs typeface="Cambria"/>
              </a:rPr>
              <a:t>M4</a:t>
            </a:r>
            <a:r>
              <a:rPr sz="2300" spc="215" dirty="0">
                <a:latin typeface="Cambria"/>
                <a:cs typeface="Cambria"/>
              </a:rPr>
              <a:t> </a:t>
            </a:r>
            <a:r>
              <a:rPr sz="2300" spc="-944" dirty="0">
                <a:solidFill>
                  <a:srgbClr val="0E0E0E"/>
                </a:solidFill>
                <a:latin typeface="Cambria"/>
                <a:cs typeface="Cambria"/>
              </a:rPr>
              <a:t>—</a:t>
            </a:r>
            <a:r>
              <a:rPr sz="2300" spc="39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2300" spc="55" dirty="0">
                <a:latin typeface="Cambria"/>
                <a:cs typeface="Cambria"/>
              </a:rPr>
              <a:t>Bienestar</a:t>
            </a:r>
            <a:r>
              <a:rPr sz="2300" spc="204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(MINLP)</a:t>
            </a:r>
            <a:endParaRPr sz="2300">
              <a:latin typeface="Cambria"/>
              <a:cs typeface="Cambria"/>
            </a:endParaRPr>
          </a:p>
          <a:p>
            <a:pPr marL="601345" indent="-200660">
              <a:lnSpc>
                <a:spcPct val="100000"/>
              </a:lnSpc>
              <a:spcBef>
                <a:spcPts val="580"/>
              </a:spcBef>
              <a:buChar char="•"/>
              <a:tabLst>
                <a:tab pos="601345" algn="l"/>
              </a:tabLst>
            </a:pPr>
            <a:r>
              <a:rPr sz="2300" spc="60" dirty="0">
                <a:latin typeface="Cambria"/>
                <a:cs typeface="Cambria"/>
              </a:rPr>
              <a:t>Resumen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53947" y="4323555"/>
            <a:ext cx="4396105" cy="36619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60" dirty="0">
                <a:solidFill>
                  <a:srgbClr val="002446"/>
                </a:solidFill>
                <a:latin typeface="Times New Roman"/>
                <a:cs typeface="Times New Roman"/>
              </a:rPr>
              <a:t>Estructura</a:t>
            </a:r>
            <a:r>
              <a:rPr sz="2800" spc="-15" dirty="0">
                <a:solidFill>
                  <a:srgbClr val="002446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13164"/>
                </a:solidFill>
                <a:latin typeface="Times New Roman"/>
                <a:cs typeface="Times New Roman"/>
              </a:rPr>
              <a:t>del</a:t>
            </a:r>
            <a:r>
              <a:rPr sz="2800" spc="-125" dirty="0">
                <a:solidFill>
                  <a:srgbClr val="01316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5284B"/>
                </a:solidFill>
                <a:latin typeface="Times New Roman"/>
                <a:cs typeface="Times New Roman"/>
              </a:rPr>
              <a:t>Proyecto</a:t>
            </a:r>
            <a:r>
              <a:rPr sz="2800" spc="-85" dirty="0">
                <a:solidFill>
                  <a:srgbClr val="05284B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002B57"/>
                </a:solidFill>
                <a:latin typeface="Times New Roman"/>
                <a:cs typeface="Times New Roman"/>
              </a:rPr>
              <a:t>(Files)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4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402590">
              <a:lnSpc>
                <a:spcPts val="2495"/>
              </a:lnSpc>
            </a:pPr>
            <a:r>
              <a:rPr sz="2200" spc="-105" dirty="0" err="1">
                <a:latin typeface="Cambria"/>
                <a:cs typeface="Cambria"/>
              </a:rPr>
              <a:t>pro_f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10" dirty="0" err="1">
                <a:latin typeface="Cambria"/>
                <a:cs typeface="Cambria"/>
              </a:rPr>
              <a:t>ina</a:t>
            </a:r>
            <a:r>
              <a:rPr lang="en-US" sz="2200" spc="-10" dirty="0" err="1">
                <a:latin typeface="Cambria"/>
                <a:cs typeface="Cambria"/>
              </a:rPr>
              <a:t>l</a:t>
            </a:r>
            <a:r>
              <a:rPr sz="2200" spc="-10" dirty="0">
                <a:latin typeface="Cambria"/>
                <a:cs typeface="Cambria"/>
              </a:rPr>
              <a:t>/</a:t>
            </a:r>
            <a:endParaRPr sz="2200" dirty="0">
              <a:latin typeface="Cambria"/>
              <a:cs typeface="Cambria"/>
            </a:endParaRPr>
          </a:p>
          <a:p>
            <a:pPr marL="1218565" marR="1055370" indent="15240">
              <a:lnSpc>
                <a:spcPts val="2350"/>
              </a:lnSpc>
              <a:spcBef>
                <a:spcPts val="175"/>
              </a:spcBef>
            </a:pPr>
            <a:r>
              <a:rPr sz="2200" spc="-114" dirty="0">
                <a:latin typeface="Cambria"/>
                <a:cs typeface="Cambria"/>
              </a:rPr>
              <a:t>app.py</a:t>
            </a:r>
            <a:r>
              <a:rPr sz="2200" spc="365" dirty="0">
                <a:latin typeface="Cambria"/>
                <a:cs typeface="Cambria"/>
              </a:rPr>
              <a:t> </a:t>
            </a:r>
            <a:r>
              <a:rPr sz="2200" spc="-170" dirty="0">
                <a:latin typeface="Cambria"/>
                <a:cs typeface="Cambria"/>
              </a:rPr>
              <a:t>(Streamt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25" dirty="0">
                <a:solidFill>
                  <a:srgbClr val="0E0E0E"/>
                </a:solidFill>
                <a:latin typeface="Cambria"/>
                <a:cs typeface="Cambria"/>
              </a:rPr>
              <a:t>it) </a:t>
            </a:r>
            <a:r>
              <a:rPr sz="2050" spc="-20" dirty="0">
                <a:latin typeface="Cambria"/>
                <a:cs typeface="Cambria"/>
              </a:rPr>
              <a:t>data/al</a:t>
            </a:r>
            <a:r>
              <a:rPr sz="2050" spc="-165" dirty="0">
                <a:latin typeface="Cambria"/>
                <a:cs typeface="Cambria"/>
              </a:rPr>
              <a:t> </a:t>
            </a:r>
            <a:r>
              <a:rPr sz="2050" spc="-120" dirty="0">
                <a:latin typeface="Cambria"/>
                <a:cs typeface="Cambria"/>
              </a:rPr>
              <a:t>iinentos</a:t>
            </a:r>
            <a:r>
              <a:rPr sz="2050" spc="-30" dirty="0">
                <a:latin typeface="Cambria"/>
                <a:cs typeface="Cambria"/>
              </a:rPr>
              <a:t> </a:t>
            </a:r>
            <a:r>
              <a:rPr sz="2050" spc="-65" dirty="0">
                <a:solidFill>
                  <a:srgbClr val="0E0E0E"/>
                </a:solidFill>
                <a:latin typeface="Cambria"/>
                <a:cs typeface="Cambria"/>
              </a:rPr>
              <a:t>.</a:t>
            </a:r>
            <a:r>
              <a:rPr sz="2050" spc="-60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2050" spc="-25" dirty="0">
                <a:solidFill>
                  <a:srgbClr val="0A0A0A"/>
                </a:solidFill>
                <a:latin typeface="Cambria"/>
                <a:cs typeface="Cambria"/>
              </a:rPr>
              <a:t>csv </a:t>
            </a:r>
            <a:r>
              <a:rPr sz="2050" spc="-10" dirty="0">
                <a:latin typeface="Cambria"/>
                <a:cs typeface="Cambria"/>
              </a:rPr>
              <a:t>inodu</a:t>
            </a:r>
            <a:r>
              <a:rPr sz="2050" spc="-10" dirty="0">
                <a:solidFill>
                  <a:srgbClr val="070707"/>
                </a:solidFill>
                <a:latin typeface="Cambria"/>
                <a:cs typeface="Cambria"/>
              </a:rPr>
              <a:t>les</a:t>
            </a:r>
            <a:r>
              <a:rPr sz="2050" spc="-10" dirty="0">
                <a:solidFill>
                  <a:srgbClr val="ACB8CF"/>
                </a:solidFill>
                <a:latin typeface="Cambria"/>
                <a:cs typeface="Cambria"/>
              </a:rPr>
              <a:t>/</a:t>
            </a:r>
            <a:endParaRPr sz="2050" dirty="0">
              <a:latin typeface="Cambria"/>
              <a:cs typeface="Cambria"/>
            </a:endParaRPr>
          </a:p>
          <a:p>
            <a:pPr marL="1689100" marR="694055" indent="-8255">
              <a:lnSpc>
                <a:spcPts val="2350"/>
              </a:lnSpc>
            </a:pPr>
            <a:r>
              <a:rPr sz="2050" spc="-55" dirty="0">
                <a:latin typeface="Calibri"/>
                <a:cs typeface="Calibri"/>
              </a:rPr>
              <a:t>m1_presupuesto.</a:t>
            </a:r>
            <a:r>
              <a:rPr sz="2050" spc="-55" dirty="0">
                <a:solidFill>
                  <a:srgbClr val="0C0C0C"/>
                </a:solidFill>
                <a:latin typeface="Calibri"/>
                <a:cs typeface="Calibri"/>
              </a:rPr>
              <a:t>py </a:t>
            </a:r>
            <a:r>
              <a:rPr sz="2050" spc="-165" dirty="0">
                <a:latin typeface="Cambria"/>
                <a:cs typeface="Cambria"/>
              </a:rPr>
              <a:t>in2_coinidas</a:t>
            </a:r>
            <a:r>
              <a:rPr sz="2050" spc="65" dirty="0">
                <a:latin typeface="Cambria"/>
                <a:cs typeface="Cambria"/>
              </a:rPr>
              <a:t> </a:t>
            </a:r>
            <a:r>
              <a:rPr sz="2050" spc="-85" dirty="0">
                <a:latin typeface="Cambria"/>
                <a:cs typeface="Cambria"/>
              </a:rPr>
              <a:t>.</a:t>
            </a:r>
            <a:r>
              <a:rPr sz="2050" spc="-60" dirty="0">
                <a:latin typeface="Cambria"/>
                <a:cs typeface="Cambria"/>
              </a:rPr>
              <a:t> </a:t>
            </a:r>
            <a:r>
              <a:rPr sz="2050" spc="-35" dirty="0">
                <a:solidFill>
                  <a:srgbClr val="0C0C0C"/>
                </a:solidFill>
                <a:latin typeface="Cambria"/>
                <a:cs typeface="Cambria"/>
              </a:rPr>
              <a:t>py </a:t>
            </a:r>
            <a:r>
              <a:rPr sz="2050" spc="-200" dirty="0">
                <a:solidFill>
                  <a:srgbClr val="0C0C0C"/>
                </a:solidFill>
                <a:latin typeface="Cambria"/>
                <a:cs typeface="Cambria"/>
              </a:rPr>
              <a:t>m3_es</a:t>
            </a:r>
            <a:r>
              <a:rPr sz="2050" spc="-1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050" spc="-150" dirty="0">
                <a:latin typeface="Cambria"/>
                <a:cs typeface="Cambria"/>
              </a:rPr>
              <a:t>tud</a:t>
            </a:r>
            <a:r>
              <a:rPr sz="2050" spc="-18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ios</a:t>
            </a:r>
            <a:r>
              <a:rPr sz="2050" spc="-16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.</a:t>
            </a:r>
            <a:r>
              <a:rPr sz="2050" spc="-135" dirty="0">
                <a:latin typeface="Cambria"/>
                <a:cs typeface="Cambria"/>
              </a:rPr>
              <a:t> </a:t>
            </a:r>
            <a:r>
              <a:rPr sz="2050" spc="-25" dirty="0">
                <a:solidFill>
                  <a:srgbClr val="0F0F0F"/>
                </a:solidFill>
                <a:latin typeface="Cambria"/>
                <a:cs typeface="Cambria"/>
              </a:rPr>
              <a:t>pp </a:t>
            </a:r>
            <a:r>
              <a:rPr sz="2050" spc="-145" dirty="0">
                <a:latin typeface="Consolas"/>
                <a:cs typeface="Consolas"/>
              </a:rPr>
              <a:t>m4_bienestar.py</a:t>
            </a:r>
            <a:endParaRPr sz="20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73792" y="1959364"/>
            <a:ext cx="8701405" cy="0"/>
          </a:xfrm>
          <a:custGeom>
            <a:avLst/>
            <a:gdLst/>
            <a:ahLst/>
            <a:cxnLst/>
            <a:rect l="l" t="t" r="r" b="b"/>
            <a:pathLst>
              <a:path w="8701405">
                <a:moveTo>
                  <a:pt x="0" y="0"/>
                </a:moveTo>
                <a:lnTo>
                  <a:pt x="8701306" y="0"/>
                </a:lnTo>
              </a:path>
            </a:pathLst>
          </a:custGeom>
          <a:ln w="23559">
            <a:solidFill>
              <a:srgbClr val="0CC8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26673" y="4209295"/>
            <a:ext cx="18305780" cy="1005205"/>
            <a:chOff x="926673" y="4209295"/>
            <a:chExt cx="18305780" cy="10052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22454" y="4209295"/>
              <a:ext cx="39265" cy="10052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6673" y="4209295"/>
              <a:ext cx="18305780" cy="997585"/>
            </a:xfrm>
            <a:custGeom>
              <a:avLst/>
              <a:gdLst/>
              <a:ahLst/>
              <a:cxnLst/>
              <a:rect l="l" t="t" r="r" b="b"/>
              <a:pathLst>
                <a:path w="18305780" h="997585">
                  <a:moveTo>
                    <a:pt x="18305726" y="997351"/>
                  </a:moveTo>
                  <a:lnTo>
                    <a:pt x="0" y="997351"/>
                  </a:lnTo>
                  <a:lnTo>
                    <a:pt x="0" y="0"/>
                  </a:lnTo>
                  <a:lnTo>
                    <a:pt x="18305726" y="0"/>
                  </a:lnTo>
                  <a:lnTo>
                    <a:pt x="18305726" y="997351"/>
                  </a:lnTo>
                  <a:close/>
                </a:path>
              </a:pathLst>
            </a:custGeom>
            <a:solidFill>
              <a:srgbClr val="002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6673" y="4475383"/>
            <a:ext cx="1830578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114"/>
              </a:spcBef>
              <a:tabLst>
                <a:tab pos="4186554" algn="l"/>
                <a:tab pos="5844540" algn="l"/>
                <a:tab pos="7856220" algn="l"/>
              </a:tabLst>
            </a:pP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Módulo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200" spc="70" dirty="0">
                <a:solidFill>
                  <a:srgbClr val="FFFFFF"/>
                </a:solidFill>
                <a:latin typeface="Arial MT"/>
                <a:cs typeface="Arial MT"/>
              </a:rPr>
              <a:t>Tipo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Solver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050" spc="120" dirty="0">
                <a:solidFill>
                  <a:srgbClr val="FFFFFF"/>
                </a:solidFill>
                <a:latin typeface="Arial MT"/>
                <a:cs typeface="Arial MT"/>
              </a:rPr>
              <a:t>Des</a:t>
            </a:r>
            <a:r>
              <a:rPr sz="2050" spc="-3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210" dirty="0">
                <a:solidFill>
                  <a:srgbClr val="FFFFFF"/>
                </a:solidFill>
                <a:latin typeface="Arial MT"/>
                <a:cs typeface="Arial MT"/>
              </a:rPr>
              <a:t>cripción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30"/>
              </a:spcBef>
            </a:pPr>
            <a:r>
              <a:rPr sz="6150" dirty="0">
                <a:solidFill>
                  <a:srgbClr val="002D62"/>
                </a:solidFill>
              </a:rPr>
              <a:t>Componentes</a:t>
            </a:r>
            <a:r>
              <a:rPr sz="6150" spc="715" dirty="0">
                <a:solidFill>
                  <a:srgbClr val="002D62"/>
                </a:solidFill>
              </a:rPr>
              <a:t> </a:t>
            </a:r>
            <a:r>
              <a:rPr sz="6150" spc="-10" dirty="0">
                <a:solidFill>
                  <a:srgbClr val="032D5B"/>
                </a:solidFill>
              </a:rPr>
              <a:t>Principales</a:t>
            </a:r>
            <a:endParaRPr sz="6150"/>
          </a:p>
        </p:txBody>
      </p:sp>
      <p:sp>
        <p:nvSpPr>
          <p:cNvPr id="9" name="object 9"/>
          <p:cNvSpPr txBox="1"/>
          <p:nvPr/>
        </p:nvSpPr>
        <p:spPr>
          <a:xfrm>
            <a:off x="1212594" y="5402710"/>
            <a:ext cx="221043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409" dirty="0">
                <a:solidFill>
                  <a:srgbClr val="111111"/>
                </a:solidFill>
                <a:latin typeface="Calibri"/>
                <a:cs typeface="Calibri"/>
              </a:rPr>
              <a:t>M1</a:t>
            </a:r>
            <a:r>
              <a:rPr sz="2200" spc="22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200" spc="-1015" dirty="0">
                <a:solidFill>
                  <a:srgbClr val="0C0C0C"/>
                </a:solidFill>
                <a:latin typeface="Calibri"/>
                <a:cs typeface="Calibri"/>
              </a:rPr>
              <a:t>—</a:t>
            </a:r>
            <a:r>
              <a:rPr sz="2200" spc="2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00" spc="105" dirty="0">
                <a:latin typeface="Calibri"/>
                <a:cs typeface="Calibri"/>
              </a:rPr>
              <a:t>Presupuesto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2594" y="6250852"/>
            <a:ext cx="176911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latin typeface="Calibri"/>
                <a:cs typeface="Calibri"/>
              </a:rPr>
              <a:t>M2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15" dirty="0">
                <a:solidFill>
                  <a:srgbClr val="1C1C1C"/>
                </a:solidFill>
                <a:latin typeface="Calibri"/>
                <a:cs typeface="Calibri"/>
              </a:rPr>
              <a:t>—</a:t>
            </a:r>
            <a:r>
              <a:rPr sz="2200" spc="3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200" spc="80" dirty="0">
                <a:latin typeface="Calibri"/>
                <a:cs typeface="Calibri"/>
              </a:rPr>
              <a:t>Comidas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2594" y="7114700"/>
            <a:ext cx="177355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latin typeface="Calibri"/>
                <a:cs typeface="Calibri"/>
              </a:rPr>
              <a:t>M3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15" dirty="0">
                <a:solidFill>
                  <a:srgbClr val="1C1C1C"/>
                </a:solidFill>
                <a:latin typeface="Calibri"/>
                <a:cs typeface="Calibri"/>
              </a:rPr>
              <a:t>—</a:t>
            </a:r>
            <a:r>
              <a:rPr sz="2200" spc="2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200" spc="95" dirty="0">
                <a:latin typeface="Calibri"/>
                <a:cs typeface="Calibri"/>
              </a:rPr>
              <a:t>Estudios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1220" y="7962187"/>
            <a:ext cx="1866264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10" dirty="0">
                <a:solidFill>
                  <a:srgbClr val="0F0F0F"/>
                </a:solidFill>
                <a:latin typeface="Calibri"/>
                <a:cs typeface="Calibri"/>
              </a:rPr>
              <a:t>M4</a:t>
            </a:r>
            <a:r>
              <a:rPr sz="2300" spc="-114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300" spc="-1065" dirty="0">
                <a:solidFill>
                  <a:srgbClr val="161616"/>
                </a:solidFill>
                <a:latin typeface="Calibri"/>
                <a:cs typeface="Calibri"/>
              </a:rPr>
              <a:t>—</a:t>
            </a:r>
            <a:r>
              <a:rPr sz="2300" spc="2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Bienestar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9910" y="5402710"/>
            <a:ext cx="29400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25" dirty="0">
                <a:latin typeface="Calibri"/>
                <a:cs typeface="Calibri"/>
              </a:rPr>
              <a:t>LP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3431" y="6267213"/>
            <a:ext cx="27813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5" dirty="0">
                <a:solidFill>
                  <a:srgbClr val="0C0C0C"/>
                </a:solidFill>
                <a:latin typeface="Calibri"/>
                <a:cs typeface="Calibri"/>
              </a:rPr>
              <a:t>LP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01284" y="7131061"/>
            <a:ext cx="59245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35" dirty="0">
                <a:solidFill>
                  <a:srgbClr val="050505"/>
                </a:solidFill>
                <a:latin typeface="Calibri"/>
                <a:cs typeface="Calibri"/>
              </a:rPr>
              <a:t>MILP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9910" y="7978548"/>
            <a:ext cx="837340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200" spc="25" dirty="0">
                <a:solidFill>
                  <a:srgbClr val="112A44"/>
                </a:solidFill>
                <a:latin typeface="Calibri"/>
                <a:cs typeface="Calibri"/>
              </a:rPr>
              <a:t>MIN</a:t>
            </a:r>
            <a:r>
              <a:rPr sz="2200" spc="25" dirty="0">
                <a:solidFill>
                  <a:srgbClr val="112A44"/>
                </a:solidFill>
                <a:latin typeface="Calibri"/>
                <a:cs typeface="Calibri"/>
              </a:rPr>
              <a:t>LP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60073" y="5402710"/>
            <a:ext cx="66929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85" dirty="0">
                <a:latin typeface="Calibri"/>
                <a:cs typeface="Calibri"/>
              </a:rPr>
              <a:t>GLPK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60800" y="6267213"/>
            <a:ext cx="66992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165" dirty="0">
                <a:latin typeface="Calibri"/>
                <a:cs typeface="Calibri"/>
              </a:rPr>
              <a:t>GLPK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0073" y="7114700"/>
            <a:ext cx="66929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85" dirty="0">
                <a:latin typeface="Calibri"/>
                <a:cs typeface="Calibri"/>
              </a:rPr>
              <a:t>GLPK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49075" y="7978548"/>
            <a:ext cx="74993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45" dirty="0">
                <a:solidFill>
                  <a:srgbClr val="070707"/>
                </a:solidFill>
                <a:latin typeface="Calibri"/>
                <a:cs typeface="Calibri"/>
              </a:rPr>
              <a:t>IPOPT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60862" y="5419071"/>
            <a:ext cx="576072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100" dirty="0">
                <a:latin typeface="Calibri"/>
                <a:cs typeface="Calibri"/>
              </a:rPr>
              <a:t>Maximiza</a:t>
            </a:r>
            <a:r>
              <a:rPr sz="2050" spc="130" dirty="0">
                <a:latin typeface="Calibri"/>
                <a:cs typeface="Calibri"/>
              </a:rPr>
              <a:t> </a:t>
            </a:r>
            <a:r>
              <a:rPr sz="2050" spc="120" dirty="0">
                <a:latin typeface="Calibri"/>
                <a:cs typeface="Calibri"/>
              </a:rPr>
              <a:t>utilidad</a:t>
            </a:r>
            <a:r>
              <a:rPr sz="2050" spc="290" dirty="0"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6287A3"/>
                </a:solidFill>
                <a:latin typeface="Calibri"/>
                <a:cs typeface="Calibri"/>
              </a:rPr>
              <a:t>al</a:t>
            </a:r>
            <a:r>
              <a:rPr sz="2050" spc="245" dirty="0">
                <a:solidFill>
                  <a:srgbClr val="6287A3"/>
                </a:solidFill>
                <a:latin typeface="Calibri"/>
                <a:cs typeface="Calibri"/>
              </a:rPr>
              <a:t> </a:t>
            </a:r>
            <a:r>
              <a:rPr sz="2050" spc="114" dirty="0">
                <a:latin typeface="Calibri"/>
                <a:cs typeface="Calibri"/>
              </a:rPr>
              <a:t>distribuir</a:t>
            </a:r>
            <a:r>
              <a:rPr sz="2050" spc="235" dirty="0">
                <a:latin typeface="Calibri"/>
                <a:cs typeface="Calibri"/>
              </a:rPr>
              <a:t> </a:t>
            </a:r>
            <a:r>
              <a:rPr sz="2050" spc="135" dirty="0">
                <a:latin typeface="Calibri"/>
                <a:cs typeface="Calibri"/>
              </a:rPr>
              <a:t>ingreso</a:t>
            </a:r>
            <a:r>
              <a:rPr sz="2050" spc="175" dirty="0">
                <a:latin typeface="Calibri"/>
                <a:cs typeface="Calibri"/>
              </a:rPr>
              <a:t> </a:t>
            </a:r>
            <a:r>
              <a:rPr sz="2050" spc="135" dirty="0">
                <a:latin typeface="Calibri"/>
                <a:cs typeface="Calibri"/>
              </a:rPr>
              <a:t>mensual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59488" y="6250852"/>
            <a:ext cx="574167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latin typeface="Calibri"/>
                <a:cs typeface="Calibri"/>
              </a:rPr>
              <a:t>Minimiza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spc="150" dirty="0">
                <a:latin typeface="Calibri"/>
                <a:cs typeface="Calibri"/>
              </a:rPr>
              <a:t>costo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semanal</a:t>
            </a:r>
            <a:r>
              <a:rPr sz="2200" spc="305" dirty="0">
                <a:latin typeface="Calibri"/>
                <a:cs typeface="Calibri"/>
              </a:rPr>
              <a:t> </a:t>
            </a:r>
            <a:r>
              <a:rPr sz="2200" spc="105" dirty="0">
                <a:latin typeface="Calibri"/>
                <a:cs typeface="Calibri"/>
              </a:rPr>
              <a:t>respetando</a:t>
            </a:r>
            <a:r>
              <a:rPr sz="2200" spc="275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nutrición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69932" y="7098339"/>
            <a:ext cx="615378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latin typeface="Calibri"/>
                <a:cs typeface="Calibri"/>
              </a:rPr>
              <a:t>Asigna</a:t>
            </a:r>
            <a:r>
              <a:rPr sz="2300" spc="105" dirty="0"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0A0A0A"/>
                </a:solidFill>
                <a:latin typeface="Calibri"/>
                <a:cs typeface="Calibri"/>
              </a:rPr>
              <a:t>bloques</a:t>
            </a:r>
            <a:r>
              <a:rPr sz="2300" spc="41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300" spc="80" dirty="0">
                <a:latin typeface="Calibri"/>
                <a:cs typeface="Calibri"/>
              </a:rPr>
              <a:t>de</a:t>
            </a:r>
            <a:r>
              <a:rPr sz="2300" spc="20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estudio</a:t>
            </a:r>
            <a:r>
              <a:rPr sz="2300" spc="245" dirty="0">
                <a:latin typeface="Calibri"/>
                <a:cs typeface="Calibri"/>
              </a:rPr>
              <a:t> </a:t>
            </a:r>
            <a:r>
              <a:rPr sz="2300" spc="85" dirty="0">
                <a:solidFill>
                  <a:srgbClr val="2F3F60"/>
                </a:solidFill>
                <a:latin typeface="Calibri"/>
                <a:cs typeface="Calibri"/>
              </a:rPr>
              <a:t>con</a:t>
            </a:r>
            <a:r>
              <a:rPr sz="2300" spc="155" dirty="0">
                <a:solidFill>
                  <a:srgbClr val="2F3F60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variables</a:t>
            </a:r>
            <a:r>
              <a:rPr sz="2300" spc="355" dirty="0"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31313"/>
                </a:solidFill>
                <a:latin typeface="Calibri"/>
                <a:cs typeface="Calibri"/>
              </a:rPr>
              <a:t>binarias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59488" y="7978548"/>
            <a:ext cx="702437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latin typeface="Calibri"/>
                <a:cs typeface="Calibri"/>
              </a:rPr>
              <a:t>Maximiza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utilidad</a:t>
            </a:r>
            <a:r>
              <a:rPr sz="2200" spc="325" dirty="0">
                <a:latin typeface="Calibri"/>
                <a:cs typeface="Calibri"/>
              </a:rPr>
              <a:t> </a:t>
            </a:r>
            <a:r>
              <a:rPr sz="2200" spc="80" dirty="0">
                <a:solidFill>
                  <a:srgbClr val="0C0C0C"/>
                </a:solidFill>
                <a:latin typeface="Calibri"/>
                <a:cs typeface="Calibri"/>
              </a:rPr>
              <a:t>con</a:t>
            </a:r>
            <a:r>
              <a:rPr sz="2200" spc="30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00" spc="65" dirty="0">
                <a:solidFill>
                  <a:srgbClr val="0A0A0A"/>
                </a:solidFill>
                <a:latin typeface="Calibri"/>
                <a:cs typeface="Calibri"/>
              </a:rPr>
              <a:t>rendimiento</a:t>
            </a:r>
            <a:r>
              <a:rPr sz="2200" spc="26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marginal</a:t>
            </a:r>
            <a:r>
              <a:rPr sz="2200" spc="390" dirty="0">
                <a:latin typeface="Calibri"/>
                <a:cs typeface="Calibri"/>
              </a:rPr>
              <a:t> </a:t>
            </a:r>
            <a:r>
              <a:rPr sz="2200" spc="100" dirty="0">
                <a:solidFill>
                  <a:srgbClr val="050505"/>
                </a:solidFill>
                <a:latin typeface="Calibri"/>
                <a:cs typeface="Calibri"/>
              </a:rPr>
              <a:t>decreciente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73792" y="1959364"/>
            <a:ext cx="6690995" cy="0"/>
          </a:xfrm>
          <a:custGeom>
            <a:avLst/>
            <a:gdLst/>
            <a:ahLst/>
            <a:cxnLst/>
            <a:rect l="l" t="t" r="r" b="b"/>
            <a:pathLst>
              <a:path w="6690995">
                <a:moveTo>
                  <a:pt x="0" y="0"/>
                </a:moveTo>
                <a:lnTo>
                  <a:pt x="6690896" y="0"/>
                </a:lnTo>
              </a:path>
            </a:pathLst>
          </a:custGeom>
          <a:ln w="23559">
            <a:solidFill>
              <a:srgbClr val="0CC8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72B57"/>
                </a:solidFill>
              </a:rPr>
              <a:t>Metodología</a:t>
            </a:r>
            <a:r>
              <a:rPr spc="340" dirty="0">
                <a:solidFill>
                  <a:srgbClr val="072B57"/>
                </a:solidFill>
              </a:rPr>
              <a:t> </a:t>
            </a:r>
            <a:r>
              <a:rPr spc="-100" dirty="0">
                <a:solidFill>
                  <a:srgbClr val="002F57"/>
                </a:solidFill>
              </a:rPr>
              <a:t>de</a:t>
            </a:r>
            <a:r>
              <a:rPr spc="-245" dirty="0">
                <a:solidFill>
                  <a:srgbClr val="002F57"/>
                </a:solidFill>
              </a:rPr>
              <a:t> </a:t>
            </a:r>
            <a:r>
              <a:rPr spc="-25" dirty="0">
                <a:solidFill>
                  <a:srgbClr val="082D59"/>
                </a:solidFill>
              </a:rPr>
              <a:t>Uso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6054" y="5023795"/>
            <a:ext cx="205930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0" dirty="0">
                <a:solidFill>
                  <a:srgbClr val="00286D"/>
                </a:solidFill>
                <a:latin typeface="Cambria"/>
                <a:cs typeface="Cambria"/>
              </a:rPr>
              <a:t>Flujo</a:t>
            </a:r>
            <a:r>
              <a:rPr sz="2550" spc="-120" dirty="0">
                <a:solidFill>
                  <a:srgbClr val="00286D"/>
                </a:solidFill>
                <a:latin typeface="Cambria"/>
                <a:cs typeface="Cambria"/>
              </a:rPr>
              <a:t> </a:t>
            </a:r>
            <a:r>
              <a:rPr sz="2550" spc="50" dirty="0">
                <a:solidFill>
                  <a:srgbClr val="003169"/>
                </a:solidFill>
                <a:latin typeface="Cambria"/>
                <a:cs typeface="Cambria"/>
              </a:rPr>
              <a:t>de</a:t>
            </a:r>
            <a:r>
              <a:rPr sz="2550" spc="-155" dirty="0">
                <a:solidFill>
                  <a:srgbClr val="003169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002A59"/>
                </a:solidFill>
                <a:latin typeface="Cambria"/>
                <a:cs typeface="Cambria"/>
              </a:rPr>
              <a:t>Datos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8842" y="5617364"/>
            <a:ext cx="5640070" cy="12668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375"/>
              </a:spcBef>
              <a:buClr>
                <a:srgbClr val="080808"/>
              </a:buClr>
              <a:buChar char="•"/>
              <a:tabLst>
                <a:tab pos="201295" algn="l"/>
                <a:tab pos="1005840" algn="l"/>
                <a:tab pos="5212715" algn="l"/>
              </a:tabLst>
            </a:pPr>
            <a:r>
              <a:rPr sz="2450" spc="-320" dirty="0">
                <a:solidFill>
                  <a:srgbClr val="0A0A0A"/>
                </a:solidFill>
                <a:latin typeface="Arial MT"/>
                <a:cs typeface="Arial MT"/>
              </a:rPr>
              <a:t>M1</a:t>
            </a:r>
            <a:r>
              <a:rPr sz="2450" dirty="0">
                <a:solidFill>
                  <a:srgbClr val="0A0A0A"/>
                </a:solidFill>
                <a:latin typeface="Arial MT"/>
                <a:cs typeface="Arial MT"/>
              </a:rPr>
              <a:t>	</a:t>
            </a:r>
            <a:r>
              <a:rPr sz="2450" spc="-10" dirty="0">
                <a:latin typeface="Arial MT"/>
                <a:cs typeface="Arial MT"/>
              </a:rPr>
              <a:t>presupuesto_aIimentacion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50" dirty="0">
                <a:latin typeface="Arial MT"/>
                <a:cs typeface="Arial MT"/>
              </a:rPr>
              <a:t>M2</a:t>
            </a:r>
            <a:endParaRPr sz="2450">
              <a:latin typeface="Arial MT"/>
              <a:cs typeface="Arial MT"/>
            </a:endParaRPr>
          </a:p>
          <a:p>
            <a:pPr marL="201295" indent="-188595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Char char="•"/>
              <a:tabLst>
                <a:tab pos="201295" algn="l"/>
                <a:tab pos="1005840" algn="l"/>
                <a:tab pos="4756785" algn="l"/>
              </a:tabLst>
            </a:pPr>
            <a:r>
              <a:rPr sz="2450" spc="-320" dirty="0">
                <a:solidFill>
                  <a:srgbClr val="080808"/>
                </a:solidFill>
                <a:latin typeface="Arial MT"/>
                <a:cs typeface="Arial MT"/>
              </a:rPr>
              <a:t>M1</a:t>
            </a:r>
            <a:r>
              <a:rPr sz="2450" dirty="0">
                <a:solidFill>
                  <a:srgbClr val="080808"/>
                </a:solidFill>
                <a:latin typeface="Arial MT"/>
                <a:cs typeface="Arial MT"/>
              </a:rPr>
              <a:t>	</a:t>
            </a:r>
            <a:r>
              <a:rPr sz="2450" spc="-10" dirty="0">
                <a:latin typeface="Arial MT"/>
                <a:cs typeface="Arial MT"/>
              </a:rPr>
              <a:t>presupuesto_bienestar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25" dirty="0">
                <a:latin typeface="Arial MT"/>
                <a:cs typeface="Arial MT"/>
              </a:rPr>
              <a:t>M4</a:t>
            </a:r>
            <a:endParaRPr sz="2450">
              <a:latin typeface="Arial MT"/>
              <a:cs typeface="Arial MT"/>
            </a:endParaRPr>
          </a:p>
          <a:p>
            <a:pPr marL="201295" indent="-188595">
              <a:lnSpc>
                <a:spcPct val="100000"/>
              </a:lnSpc>
              <a:spcBef>
                <a:spcPts val="400"/>
              </a:spcBef>
              <a:buClr>
                <a:srgbClr val="080808"/>
              </a:buClr>
              <a:buChar char="•"/>
              <a:tabLst>
                <a:tab pos="201295" algn="l"/>
                <a:tab pos="1084580" algn="l"/>
                <a:tab pos="3625850" algn="l"/>
              </a:tabLst>
            </a:pPr>
            <a:r>
              <a:rPr sz="2450" spc="-25" dirty="0">
                <a:latin typeface="Arial MT"/>
                <a:cs typeface="Arial MT"/>
              </a:rPr>
              <a:t>M3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10" dirty="0">
                <a:latin typeface="Arial MT"/>
                <a:cs typeface="Arial MT"/>
              </a:rPr>
              <a:t>bIoques_Iibres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25" dirty="0">
                <a:solidFill>
                  <a:srgbClr val="0C0C0C"/>
                </a:solidFill>
                <a:latin typeface="Arial MT"/>
                <a:cs typeface="Arial MT"/>
              </a:rPr>
              <a:t>M4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37951" y="4803907"/>
            <a:ext cx="6060440" cy="2923540"/>
          </a:xfrm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855"/>
              </a:spcBef>
            </a:pPr>
            <a:r>
              <a:rPr sz="2550" dirty="0">
                <a:solidFill>
                  <a:srgbClr val="00285D"/>
                </a:solidFill>
                <a:latin typeface="Cambria"/>
                <a:cs typeface="Cambria"/>
              </a:rPr>
              <a:t>Pasos</a:t>
            </a:r>
            <a:r>
              <a:rPr sz="2550" spc="85" dirty="0">
                <a:solidFill>
                  <a:srgbClr val="00285D"/>
                </a:solidFill>
                <a:latin typeface="Cambria"/>
                <a:cs typeface="Cambria"/>
              </a:rPr>
              <a:t> </a:t>
            </a:r>
            <a:r>
              <a:rPr sz="2550" spc="50" dirty="0">
                <a:solidFill>
                  <a:srgbClr val="002A5B"/>
                </a:solidFill>
                <a:latin typeface="Cambria"/>
                <a:cs typeface="Cambria"/>
              </a:rPr>
              <a:t>de</a:t>
            </a:r>
            <a:r>
              <a:rPr sz="2550" spc="5" dirty="0">
                <a:solidFill>
                  <a:srgbClr val="002A5B"/>
                </a:solidFill>
                <a:latin typeface="Cambria"/>
                <a:cs typeface="Cambria"/>
              </a:rPr>
              <a:t> </a:t>
            </a:r>
            <a:r>
              <a:rPr sz="2550" spc="-10" dirty="0">
                <a:solidFill>
                  <a:srgbClr val="05345E"/>
                </a:solidFill>
                <a:latin typeface="Cambria"/>
                <a:cs typeface="Cambria"/>
              </a:rPr>
              <a:t>Ejecución</a:t>
            </a:r>
            <a:endParaRPr sz="2550">
              <a:latin typeface="Cambria"/>
              <a:cs typeface="Cambria"/>
            </a:endParaRPr>
          </a:p>
          <a:p>
            <a:pPr marL="336550" indent="-257175">
              <a:lnSpc>
                <a:spcPct val="100000"/>
              </a:lnSpc>
              <a:spcBef>
                <a:spcPts val="1764"/>
              </a:spcBef>
              <a:buClr>
                <a:srgbClr val="0A0A0A"/>
              </a:buClr>
              <a:buAutoNum type="arabicPeriod"/>
              <a:tabLst>
                <a:tab pos="336550" algn="l"/>
              </a:tabLst>
            </a:pPr>
            <a:r>
              <a:rPr sz="2550" spc="-350" dirty="0">
                <a:latin typeface="Calibri"/>
                <a:cs typeface="Calibri"/>
              </a:rPr>
              <a:t>M1:</a:t>
            </a:r>
            <a:r>
              <a:rPr sz="2550" spc="14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Ingresar</a:t>
            </a:r>
            <a:r>
              <a:rPr sz="2550" spc="300" dirty="0">
                <a:latin typeface="Calibri"/>
                <a:cs typeface="Calibri"/>
              </a:rPr>
              <a:t> </a:t>
            </a:r>
            <a:r>
              <a:rPr sz="2550" spc="50" dirty="0">
                <a:latin typeface="Calibri"/>
                <a:cs typeface="Calibri"/>
              </a:rPr>
              <a:t>ingreso</a:t>
            </a:r>
            <a:r>
              <a:rPr sz="2550" spc="150" dirty="0">
                <a:latin typeface="Calibri"/>
                <a:cs typeface="Calibri"/>
              </a:rPr>
              <a:t> </a:t>
            </a:r>
            <a:r>
              <a:rPr sz="2550" spc="90" dirty="0">
                <a:solidFill>
                  <a:srgbClr val="0A0A0A"/>
                </a:solidFill>
                <a:latin typeface="Calibri"/>
                <a:cs typeface="Calibri"/>
              </a:rPr>
              <a:t>y</a:t>
            </a:r>
            <a:r>
              <a:rPr sz="2550" spc="16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prioridades.</a:t>
            </a:r>
            <a:endParaRPr sz="2550">
              <a:latin typeface="Calibri"/>
              <a:cs typeface="Calibri"/>
            </a:endParaRPr>
          </a:p>
          <a:p>
            <a:pPr marL="336550" indent="-311150">
              <a:lnSpc>
                <a:spcPct val="100000"/>
              </a:lnSpc>
              <a:spcBef>
                <a:spcPts val="155"/>
              </a:spcBef>
              <a:buClr>
                <a:srgbClr val="0C0C0C"/>
              </a:buClr>
              <a:buAutoNum type="arabicPeriod"/>
              <a:tabLst>
                <a:tab pos="336550" algn="l"/>
              </a:tabLst>
            </a:pPr>
            <a:r>
              <a:rPr sz="2550" spc="-50" dirty="0">
                <a:solidFill>
                  <a:srgbClr val="080808"/>
                </a:solidFill>
                <a:latin typeface="Calibri"/>
                <a:cs typeface="Calibri"/>
              </a:rPr>
              <a:t>M2:</a:t>
            </a:r>
            <a:r>
              <a:rPr sz="2550" spc="29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Ajustar</a:t>
            </a:r>
            <a:r>
              <a:rPr sz="2550" spc="42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requerimientos</a:t>
            </a:r>
            <a:r>
              <a:rPr sz="2550" spc="21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nutricionales.</a:t>
            </a:r>
            <a:endParaRPr sz="2550">
              <a:latin typeface="Calibri"/>
              <a:cs typeface="Calibri"/>
            </a:endParaRPr>
          </a:p>
          <a:p>
            <a:pPr marL="337185" indent="-309880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337185" algn="l"/>
              </a:tabLst>
            </a:pPr>
            <a:r>
              <a:rPr sz="2550" spc="-55" dirty="0">
                <a:latin typeface="Calibri"/>
                <a:cs typeface="Calibri"/>
              </a:rPr>
              <a:t>M3:</a:t>
            </a:r>
            <a:r>
              <a:rPr sz="2550" spc="114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Configurar</a:t>
            </a:r>
            <a:r>
              <a:rPr sz="2550" spc="31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materias</a:t>
            </a:r>
            <a:r>
              <a:rPr sz="2550" spc="375" dirty="0">
                <a:latin typeface="Calibri"/>
                <a:cs typeface="Calibri"/>
              </a:rPr>
              <a:t> </a:t>
            </a:r>
            <a:r>
              <a:rPr sz="2550" spc="90" dirty="0">
                <a:solidFill>
                  <a:srgbClr val="0F0F0F"/>
                </a:solidFill>
                <a:latin typeface="Calibri"/>
                <a:cs typeface="Calibri"/>
              </a:rPr>
              <a:t>y</a:t>
            </a:r>
            <a:r>
              <a:rPr sz="2550" spc="16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bloqueos.</a:t>
            </a:r>
            <a:endParaRPr sz="2550">
              <a:latin typeface="Calibri"/>
              <a:cs typeface="Calibri"/>
            </a:endParaRPr>
          </a:p>
          <a:p>
            <a:pPr marL="337185" indent="-324485">
              <a:lnSpc>
                <a:spcPct val="100000"/>
              </a:lnSpc>
              <a:spcBef>
                <a:spcPts val="95"/>
              </a:spcBef>
              <a:buClr>
                <a:srgbClr val="0C0C0C"/>
              </a:buClr>
              <a:buAutoNum type="arabicPeriod"/>
              <a:tabLst>
                <a:tab pos="337185" algn="l"/>
              </a:tabLst>
            </a:pPr>
            <a:r>
              <a:rPr sz="2550" dirty="0">
                <a:latin typeface="Calibri"/>
                <a:cs typeface="Calibri"/>
              </a:rPr>
              <a:t>M4:</a:t>
            </a:r>
            <a:r>
              <a:rPr sz="2550" spc="21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Ajustar</a:t>
            </a:r>
            <a:r>
              <a:rPr sz="2550" spc="37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importancia</a:t>
            </a:r>
            <a:r>
              <a:rPr sz="2550" spc="250" dirty="0">
                <a:latin typeface="Calibri"/>
                <a:cs typeface="Calibri"/>
              </a:rPr>
              <a:t> </a:t>
            </a:r>
            <a:r>
              <a:rPr sz="2550" spc="85" dirty="0">
                <a:latin typeface="Calibri"/>
                <a:cs typeface="Calibri"/>
              </a:rPr>
              <a:t>de</a:t>
            </a:r>
            <a:r>
              <a:rPr sz="2550" spc="16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bienestar.</a:t>
            </a:r>
            <a:endParaRPr sz="2550">
              <a:latin typeface="Calibri"/>
              <a:cs typeface="Calibri"/>
            </a:endParaRPr>
          </a:p>
          <a:p>
            <a:pPr marL="337185" indent="-317500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337185" algn="l"/>
              </a:tabLst>
            </a:pPr>
            <a:r>
              <a:rPr sz="2550" dirty="0">
                <a:latin typeface="Calibri"/>
                <a:cs typeface="Calibri"/>
              </a:rPr>
              <a:t>Resumen:</a:t>
            </a:r>
            <a:r>
              <a:rPr sz="2550" spc="14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Resultados</a:t>
            </a:r>
            <a:r>
              <a:rPr sz="2550" spc="41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integrados.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81645" y="6557391"/>
            <a:ext cx="5835015" cy="71120"/>
            <a:chOff x="981645" y="6557391"/>
            <a:chExt cx="5835015" cy="71120"/>
          </a:xfrm>
        </p:grpSpPr>
        <p:sp>
          <p:nvSpPr>
            <p:cNvPr id="4" name="object 4"/>
            <p:cNvSpPr/>
            <p:nvPr/>
          </p:nvSpPr>
          <p:spPr>
            <a:xfrm>
              <a:off x="981645" y="6616290"/>
              <a:ext cx="5835015" cy="0"/>
            </a:xfrm>
            <a:custGeom>
              <a:avLst/>
              <a:gdLst/>
              <a:ahLst/>
              <a:cxnLst/>
              <a:rect l="l" t="t" r="r" b="b"/>
              <a:pathLst>
                <a:path w="5835015">
                  <a:moveTo>
                    <a:pt x="0" y="0"/>
                  </a:moveTo>
                  <a:lnTo>
                    <a:pt x="5834901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0911" y="6569171"/>
              <a:ext cx="5756910" cy="0"/>
            </a:xfrm>
            <a:custGeom>
              <a:avLst/>
              <a:gdLst/>
              <a:ahLst/>
              <a:cxnLst/>
              <a:rect l="l" t="t" r="r" b="b"/>
              <a:pathLst>
                <a:path w="5756909">
                  <a:moveTo>
                    <a:pt x="0" y="0"/>
                  </a:moveTo>
                  <a:lnTo>
                    <a:pt x="5756369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162085" y="6557391"/>
            <a:ext cx="5850890" cy="71120"/>
            <a:chOff x="7162085" y="6557391"/>
            <a:chExt cx="5850890" cy="71120"/>
          </a:xfrm>
        </p:grpSpPr>
        <p:sp>
          <p:nvSpPr>
            <p:cNvPr id="7" name="object 7"/>
            <p:cNvSpPr/>
            <p:nvPr/>
          </p:nvSpPr>
          <p:spPr>
            <a:xfrm>
              <a:off x="7162085" y="6616290"/>
              <a:ext cx="5850890" cy="0"/>
            </a:xfrm>
            <a:custGeom>
              <a:avLst/>
              <a:gdLst/>
              <a:ahLst/>
              <a:cxnLst/>
              <a:rect l="l" t="t" r="r" b="b"/>
              <a:pathLst>
                <a:path w="5850890">
                  <a:moveTo>
                    <a:pt x="0" y="0"/>
                  </a:moveTo>
                  <a:lnTo>
                    <a:pt x="5850607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85644" y="6569171"/>
              <a:ext cx="5795645" cy="0"/>
            </a:xfrm>
            <a:custGeom>
              <a:avLst/>
              <a:gdLst/>
              <a:ahLst/>
              <a:cxnLst/>
              <a:rect l="l" t="t" r="r" b="b"/>
              <a:pathLst>
                <a:path w="5795645">
                  <a:moveTo>
                    <a:pt x="0" y="0"/>
                  </a:moveTo>
                  <a:lnTo>
                    <a:pt x="5795635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89498" y="3526070"/>
            <a:ext cx="5835015" cy="71120"/>
            <a:chOff x="989498" y="3526070"/>
            <a:chExt cx="5835015" cy="71120"/>
          </a:xfrm>
        </p:grpSpPr>
        <p:sp>
          <p:nvSpPr>
            <p:cNvPr id="10" name="object 10"/>
            <p:cNvSpPr/>
            <p:nvPr/>
          </p:nvSpPr>
          <p:spPr>
            <a:xfrm>
              <a:off x="989498" y="3584969"/>
              <a:ext cx="5835015" cy="0"/>
            </a:xfrm>
            <a:custGeom>
              <a:avLst/>
              <a:gdLst/>
              <a:ahLst/>
              <a:cxnLst/>
              <a:rect l="l" t="t" r="r" b="b"/>
              <a:pathLst>
                <a:path w="5835015">
                  <a:moveTo>
                    <a:pt x="0" y="0"/>
                  </a:moveTo>
                  <a:lnTo>
                    <a:pt x="5834901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28764" y="3537850"/>
              <a:ext cx="5764530" cy="0"/>
            </a:xfrm>
            <a:custGeom>
              <a:avLst/>
              <a:gdLst/>
              <a:ahLst/>
              <a:cxnLst/>
              <a:rect l="l" t="t" r="r" b="b"/>
              <a:pathLst>
                <a:path w="5764530">
                  <a:moveTo>
                    <a:pt x="0" y="0"/>
                  </a:moveTo>
                  <a:lnTo>
                    <a:pt x="5764222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154232" y="3526070"/>
            <a:ext cx="5850890" cy="62865"/>
            <a:chOff x="7154232" y="3526070"/>
            <a:chExt cx="5850890" cy="62865"/>
          </a:xfrm>
        </p:grpSpPr>
        <p:sp>
          <p:nvSpPr>
            <p:cNvPr id="13" name="object 13"/>
            <p:cNvSpPr/>
            <p:nvPr/>
          </p:nvSpPr>
          <p:spPr>
            <a:xfrm>
              <a:off x="7154232" y="3577116"/>
              <a:ext cx="5850890" cy="0"/>
            </a:xfrm>
            <a:custGeom>
              <a:avLst/>
              <a:gdLst/>
              <a:ahLst/>
              <a:cxnLst/>
              <a:rect l="l" t="t" r="r" b="b"/>
              <a:pathLst>
                <a:path w="5850890">
                  <a:moveTo>
                    <a:pt x="0" y="0"/>
                  </a:moveTo>
                  <a:lnTo>
                    <a:pt x="5850607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85644" y="3537850"/>
              <a:ext cx="5788025" cy="0"/>
            </a:xfrm>
            <a:custGeom>
              <a:avLst/>
              <a:gdLst/>
              <a:ahLst/>
              <a:cxnLst/>
              <a:rect l="l" t="t" r="r" b="b"/>
              <a:pathLst>
                <a:path w="5788025">
                  <a:moveTo>
                    <a:pt x="0" y="0"/>
                  </a:moveTo>
                  <a:lnTo>
                    <a:pt x="5787782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3350378" y="3526070"/>
            <a:ext cx="5827395" cy="71120"/>
            <a:chOff x="13350378" y="3526070"/>
            <a:chExt cx="5827395" cy="71120"/>
          </a:xfrm>
        </p:grpSpPr>
        <p:sp>
          <p:nvSpPr>
            <p:cNvPr id="16" name="object 16"/>
            <p:cNvSpPr/>
            <p:nvPr/>
          </p:nvSpPr>
          <p:spPr>
            <a:xfrm>
              <a:off x="13350378" y="3584969"/>
              <a:ext cx="5827395" cy="0"/>
            </a:xfrm>
            <a:custGeom>
              <a:avLst/>
              <a:gdLst/>
              <a:ahLst/>
              <a:cxnLst/>
              <a:rect l="l" t="t" r="r" b="b"/>
              <a:pathLst>
                <a:path w="5827394">
                  <a:moveTo>
                    <a:pt x="0" y="0"/>
                  </a:moveTo>
                  <a:lnTo>
                    <a:pt x="5827048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373938" y="3537850"/>
              <a:ext cx="5764530" cy="0"/>
            </a:xfrm>
            <a:custGeom>
              <a:avLst/>
              <a:gdLst/>
              <a:ahLst/>
              <a:cxnLst/>
              <a:rect l="l" t="t" r="r" b="b"/>
              <a:pathLst>
                <a:path w="5764530">
                  <a:moveTo>
                    <a:pt x="0" y="0"/>
                  </a:moveTo>
                  <a:lnTo>
                    <a:pt x="5764222" y="0"/>
                  </a:lnTo>
                </a:path>
              </a:pathLst>
            </a:custGeom>
            <a:ln w="23559">
              <a:solidFill>
                <a:srgbClr val="13C8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973792" y="1951511"/>
            <a:ext cx="8183245" cy="0"/>
          </a:xfrm>
          <a:custGeom>
            <a:avLst/>
            <a:gdLst/>
            <a:ahLst/>
            <a:cxnLst/>
            <a:rect l="l" t="t" r="r" b="b"/>
            <a:pathLst>
              <a:path w="8183245">
                <a:moveTo>
                  <a:pt x="0" y="0"/>
                </a:moveTo>
                <a:lnTo>
                  <a:pt x="8182997" y="0"/>
                </a:lnTo>
              </a:path>
            </a:pathLst>
          </a:custGeom>
          <a:ln w="23559">
            <a:solidFill>
              <a:srgbClr val="0CC8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64505" y="4075792"/>
            <a:ext cx="518308" cy="44763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9331" y="7107113"/>
            <a:ext cx="502602" cy="43977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5037" y="4067938"/>
            <a:ext cx="596840" cy="47118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07624" y="4067938"/>
            <a:ext cx="596840" cy="47118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31184" y="7099260"/>
            <a:ext cx="518308" cy="486896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07285D"/>
                </a:solidFill>
              </a:rPr>
              <a:t>Ecosistema</a:t>
            </a:r>
            <a:r>
              <a:rPr spc="-20" dirty="0">
                <a:solidFill>
                  <a:srgbClr val="07285D"/>
                </a:solidFill>
              </a:rPr>
              <a:t> </a:t>
            </a:r>
            <a:r>
              <a:rPr spc="-25" dirty="0">
                <a:solidFill>
                  <a:srgbClr val="0A2A5B"/>
                </a:solidFill>
              </a:rPr>
              <a:t>Tecnológico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314846" y="4590907"/>
            <a:ext cx="3746500" cy="123253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3100" spc="-10" dirty="0">
                <a:solidFill>
                  <a:srgbClr val="085289"/>
                </a:solidFill>
                <a:latin typeface="Cambria"/>
                <a:cs typeface="Cambria"/>
              </a:rPr>
              <a:t>Pyomo</a:t>
            </a:r>
            <a:endParaRPr sz="3100">
              <a:latin typeface="Cambria"/>
              <a:cs typeface="Cambria"/>
            </a:endParaRPr>
          </a:p>
          <a:p>
            <a:pPr marL="17780">
              <a:lnSpc>
                <a:spcPct val="100000"/>
              </a:lnSpc>
              <a:spcBef>
                <a:spcPts val="1260"/>
              </a:spcBef>
            </a:pPr>
            <a:r>
              <a:rPr sz="2450" dirty="0">
                <a:latin typeface="Cambria"/>
                <a:cs typeface="Cambria"/>
              </a:rPr>
              <a:t>Modelado</a:t>
            </a:r>
            <a:r>
              <a:rPr sz="2450" spc="275" dirty="0">
                <a:latin typeface="Cambria"/>
                <a:cs typeface="Cambria"/>
              </a:rPr>
              <a:t> </a:t>
            </a:r>
            <a:r>
              <a:rPr sz="2450" spc="110" dirty="0">
                <a:solidFill>
                  <a:srgbClr val="0A0A0A"/>
                </a:solidFill>
                <a:latin typeface="Cambria"/>
                <a:cs typeface="Cambria"/>
              </a:rPr>
              <a:t>de</a:t>
            </a:r>
            <a:r>
              <a:rPr sz="2450" spc="200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2450" spc="-10" dirty="0">
                <a:latin typeface="Cambria"/>
                <a:cs typeface="Cambria"/>
              </a:rPr>
              <a:t>optimización.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18417" y="7642140"/>
            <a:ext cx="4051935" cy="121920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280"/>
              </a:spcBef>
            </a:pPr>
            <a:r>
              <a:rPr sz="3350" spc="-10" dirty="0">
                <a:solidFill>
                  <a:srgbClr val="055282"/>
                </a:solidFill>
                <a:latin typeface="Times New Roman"/>
                <a:cs typeface="Times New Roman"/>
              </a:rPr>
              <a:t>Pandas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700" spc="-90" dirty="0">
                <a:latin typeface="Cambria"/>
                <a:cs typeface="Cambria"/>
              </a:rPr>
              <a:t>Manejo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de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datos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y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00" dirty="0">
                <a:latin typeface="Cambria"/>
                <a:cs typeface="Cambria"/>
              </a:rPr>
              <a:t>alimentos.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87813" y="4583053"/>
            <a:ext cx="3780154" cy="1613903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3100" spc="65" dirty="0">
                <a:solidFill>
                  <a:srgbClr val="015089"/>
                </a:solidFill>
                <a:latin typeface="Cambria"/>
                <a:cs typeface="Cambria"/>
              </a:rPr>
              <a:t>GLPK</a:t>
            </a:r>
            <a:r>
              <a:rPr sz="3100" spc="20" dirty="0">
                <a:solidFill>
                  <a:srgbClr val="015089"/>
                </a:solidFill>
                <a:latin typeface="Cambria"/>
                <a:cs typeface="Cambria"/>
              </a:rPr>
              <a:t> </a:t>
            </a:r>
            <a:r>
              <a:rPr sz="3100" spc="-580" dirty="0">
                <a:solidFill>
                  <a:srgbClr val="004F89"/>
                </a:solidFill>
                <a:latin typeface="Cambria"/>
                <a:cs typeface="Cambria"/>
              </a:rPr>
              <a:t>/</a:t>
            </a:r>
            <a:r>
              <a:rPr sz="3100" spc="10" dirty="0">
                <a:solidFill>
                  <a:srgbClr val="004F89"/>
                </a:solidFill>
                <a:latin typeface="Cambria"/>
                <a:cs typeface="Cambria"/>
              </a:rPr>
              <a:t> </a:t>
            </a:r>
            <a:r>
              <a:rPr sz="3100" spc="65" dirty="0">
                <a:solidFill>
                  <a:srgbClr val="034B82"/>
                </a:solidFill>
                <a:latin typeface="Cambria"/>
                <a:cs typeface="Cambria"/>
              </a:rPr>
              <a:t>IPOPT</a:t>
            </a:r>
            <a:endParaRPr sz="3100" dirty="0">
              <a:latin typeface="Cambria"/>
              <a:cs typeface="Cambria"/>
            </a:endParaRPr>
          </a:p>
          <a:p>
            <a:pPr marL="18415">
              <a:lnSpc>
                <a:spcPct val="100000"/>
              </a:lnSpc>
              <a:spcBef>
                <a:spcPts val="1260"/>
              </a:spcBef>
            </a:pPr>
            <a:r>
              <a:rPr sz="2450" dirty="0">
                <a:latin typeface="Cambria"/>
                <a:cs typeface="Cambria"/>
              </a:rPr>
              <a:t>Solvers</a:t>
            </a:r>
            <a:r>
              <a:rPr sz="2450" spc="190" dirty="0">
                <a:latin typeface="Cambria"/>
                <a:cs typeface="Cambria"/>
              </a:rPr>
              <a:t> </a:t>
            </a:r>
            <a:r>
              <a:rPr sz="2450" dirty="0">
                <a:solidFill>
                  <a:srgbClr val="080808"/>
                </a:solidFill>
                <a:latin typeface="Cambria"/>
                <a:cs typeface="Cambria"/>
              </a:rPr>
              <a:t>para</a:t>
            </a:r>
            <a:r>
              <a:rPr sz="2450" spc="55" dirty="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2450" spc="-114" dirty="0">
                <a:solidFill>
                  <a:srgbClr val="0A0A0A"/>
                </a:solidFill>
                <a:latin typeface="Cambria"/>
                <a:cs typeface="Cambria"/>
              </a:rPr>
              <a:t>LP,</a:t>
            </a:r>
            <a:r>
              <a:rPr sz="2450" spc="35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2450" spc="-100" dirty="0">
                <a:solidFill>
                  <a:srgbClr val="0F0F0F"/>
                </a:solidFill>
                <a:latin typeface="Cambria"/>
                <a:cs typeface="Cambria"/>
              </a:rPr>
              <a:t>MILP</a:t>
            </a:r>
            <a:r>
              <a:rPr sz="2450" spc="114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2450" dirty="0">
                <a:latin typeface="Cambria"/>
                <a:cs typeface="Cambria"/>
              </a:rPr>
              <a:t>y</a:t>
            </a:r>
            <a:r>
              <a:rPr sz="2450" spc="70" dirty="0">
                <a:latin typeface="Cambria"/>
                <a:cs typeface="Cambria"/>
              </a:rPr>
              <a:t> </a:t>
            </a:r>
            <a:r>
              <a:rPr lang="en-US" sz="2450" spc="70" dirty="0">
                <a:latin typeface="Cambria"/>
                <a:cs typeface="Cambria"/>
              </a:rPr>
              <a:t>MI</a:t>
            </a:r>
            <a:r>
              <a:rPr sz="2450" spc="-30" dirty="0">
                <a:latin typeface="Cambria"/>
                <a:cs typeface="Cambria"/>
              </a:rPr>
              <a:t>NLP.</a:t>
            </a:r>
            <a:endParaRPr sz="2450" dirty="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94320" y="7601734"/>
            <a:ext cx="3915410" cy="1253490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3200" spc="-10" dirty="0">
                <a:solidFill>
                  <a:srgbClr val="004F85"/>
                </a:solidFill>
                <a:latin typeface="Cambria"/>
                <a:cs typeface="Cambria"/>
              </a:rPr>
              <a:t>Plotly</a:t>
            </a:r>
            <a:endParaRPr sz="3200">
              <a:latin typeface="Cambria"/>
              <a:cs typeface="Cambria"/>
            </a:endParaRPr>
          </a:p>
          <a:p>
            <a:pPr marL="25400">
              <a:lnSpc>
                <a:spcPct val="100000"/>
              </a:lnSpc>
              <a:spcBef>
                <a:spcPts val="1240"/>
              </a:spcBef>
            </a:pPr>
            <a:r>
              <a:rPr sz="2450" dirty="0">
                <a:latin typeface="Cambria"/>
                <a:cs typeface="Cambria"/>
              </a:rPr>
              <a:t>Visualizaciones</a:t>
            </a:r>
            <a:r>
              <a:rPr sz="2450" spc="105" dirty="0">
                <a:latin typeface="Cambria"/>
                <a:cs typeface="Cambria"/>
              </a:rPr>
              <a:t>  </a:t>
            </a:r>
            <a:r>
              <a:rPr sz="2450" spc="-10" dirty="0">
                <a:latin typeface="Cambria"/>
                <a:cs typeface="Cambria"/>
              </a:rPr>
              <a:t>interactivas.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664488" y="4610819"/>
            <a:ext cx="3119120" cy="121920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3350" spc="-10" dirty="0">
                <a:solidFill>
                  <a:srgbClr val="00568E"/>
                </a:solidFill>
                <a:latin typeface="Times New Roman"/>
                <a:cs typeface="Times New Roman"/>
              </a:rPr>
              <a:t>Streamlit</a:t>
            </a:r>
            <a:endParaRPr sz="335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955"/>
              </a:spcBef>
            </a:pPr>
            <a:r>
              <a:rPr sz="2700" spc="-130" dirty="0">
                <a:latin typeface="Cambria"/>
                <a:cs typeface="Cambria"/>
              </a:rPr>
              <a:t>Interfaz</a:t>
            </a:r>
            <a:r>
              <a:rPr sz="2700" spc="45" dirty="0">
                <a:latin typeface="Cambria"/>
                <a:cs typeface="Cambria"/>
              </a:rPr>
              <a:t> </a:t>
            </a:r>
            <a:r>
              <a:rPr sz="2700" spc="-75" dirty="0">
                <a:solidFill>
                  <a:srgbClr val="0A0A0A"/>
                </a:solidFill>
                <a:latin typeface="Cambria"/>
                <a:cs typeface="Cambria"/>
              </a:rPr>
              <a:t>web </a:t>
            </a:r>
            <a:r>
              <a:rPr sz="2700" spc="-75" dirty="0">
                <a:latin typeface="Cambria"/>
                <a:cs typeface="Cambria"/>
              </a:rPr>
              <a:t>dinámica.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3792" y="1951511"/>
            <a:ext cx="8481695" cy="0"/>
          </a:xfrm>
          <a:custGeom>
            <a:avLst/>
            <a:gdLst/>
            <a:ahLst/>
            <a:cxnLst/>
            <a:rect l="l" t="t" r="r" b="b"/>
            <a:pathLst>
              <a:path w="8481695">
                <a:moveTo>
                  <a:pt x="0" y="0"/>
                </a:moveTo>
                <a:lnTo>
                  <a:pt x="8481417" y="0"/>
                </a:lnTo>
              </a:path>
            </a:pathLst>
          </a:custGeom>
          <a:ln w="39265">
            <a:solidFill>
              <a:srgbClr val="0CC8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3282622"/>
            <a:ext cx="94237" cy="11308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379" y="4727604"/>
            <a:ext cx="94237" cy="11308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379" y="6172586"/>
            <a:ext cx="94237" cy="113085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0" dirty="0">
                <a:solidFill>
                  <a:srgbClr val="052D64"/>
                </a:solidFill>
              </a:rPr>
              <a:t>Pruebas</a:t>
            </a:r>
            <a:r>
              <a:rPr spc="-235" dirty="0">
                <a:solidFill>
                  <a:srgbClr val="052D64"/>
                </a:solidFill>
              </a:rPr>
              <a:t> </a:t>
            </a:r>
            <a:r>
              <a:rPr dirty="0">
                <a:solidFill>
                  <a:srgbClr val="052862"/>
                </a:solidFill>
              </a:rPr>
              <a:t>Ml:</a:t>
            </a:r>
            <a:r>
              <a:rPr spc="830" dirty="0">
                <a:solidFill>
                  <a:srgbClr val="052862"/>
                </a:solidFill>
              </a:rPr>
              <a:t> </a:t>
            </a:r>
            <a:r>
              <a:rPr spc="-85" dirty="0">
                <a:solidFill>
                  <a:srgbClr val="052D64"/>
                </a:solidFill>
              </a:rPr>
              <a:t>Presupuesto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34779" y="3478685"/>
            <a:ext cx="5603875" cy="3579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ts val="2620"/>
              </a:lnSpc>
              <a:spcBef>
                <a:spcPts val="90"/>
              </a:spcBef>
            </a:pPr>
            <a:r>
              <a:rPr sz="2200" dirty="0">
                <a:solidFill>
                  <a:srgbClr val="032F5B"/>
                </a:solidFill>
                <a:latin typeface="Calibri"/>
                <a:cs typeface="Calibri"/>
              </a:rPr>
              <a:t>PI:</a:t>
            </a:r>
            <a:r>
              <a:rPr sz="2200" spc="229" dirty="0">
                <a:solidFill>
                  <a:srgbClr val="032F5B"/>
                </a:solidFill>
                <a:latin typeface="Calibri"/>
                <a:cs typeface="Calibri"/>
              </a:rPr>
              <a:t> </a:t>
            </a:r>
            <a:r>
              <a:rPr sz="2200" spc="155" dirty="0">
                <a:solidFill>
                  <a:srgbClr val="033166"/>
                </a:solidFill>
                <a:latin typeface="Calibri"/>
                <a:cs typeface="Calibri"/>
              </a:rPr>
              <a:t>Caso</a:t>
            </a:r>
            <a:r>
              <a:rPr sz="2200" spc="-20" dirty="0">
                <a:solidFill>
                  <a:srgbClr val="033166"/>
                </a:solidFill>
                <a:latin typeface="Calibri"/>
                <a:cs typeface="Calibri"/>
              </a:rPr>
              <a:t> </a:t>
            </a:r>
            <a:r>
              <a:rPr sz="2200" spc="50" dirty="0">
                <a:solidFill>
                  <a:srgbClr val="082A60"/>
                </a:solidFill>
                <a:latin typeface="Calibri"/>
                <a:cs typeface="Calibri"/>
              </a:rPr>
              <a:t>Normal</a:t>
            </a:r>
            <a:endParaRPr sz="2200" dirty="0">
              <a:latin typeface="Calibri"/>
              <a:cs typeface="Calibri"/>
            </a:endParaRPr>
          </a:p>
          <a:p>
            <a:pPr marL="13970">
              <a:lnSpc>
                <a:spcPts val="2620"/>
              </a:lnSpc>
            </a:pPr>
            <a:r>
              <a:rPr sz="2200" dirty="0">
                <a:latin typeface="Calibri"/>
                <a:cs typeface="Calibri"/>
              </a:rPr>
              <a:t>Entrada: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Bs</a:t>
            </a:r>
            <a:r>
              <a:rPr sz="2200" spc="265" dirty="0">
                <a:latin typeface="Calibri"/>
                <a:cs typeface="Calibri"/>
              </a:rPr>
              <a:t> </a:t>
            </a:r>
            <a:r>
              <a:rPr sz="2200" spc="160" dirty="0">
                <a:latin typeface="Calibri"/>
                <a:cs typeface="Calibri"/>
              </a:rPr>
              <a:t>3000</a:t>
            </a:r>
            <a:r>
              <a:rPr sz="2200" spc="-260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A5BFD1"/>
                </a:solidFill>
                <a:latin typeface="Calibri"/>
                <a:cs typeface="Calibri"/>
              </a:rPr>
              <a:t>|</a:t>
            </a:r>
            <a:r>
              <a:rPr sz="2200" dirty="0">
                <a:latin typeface="Calibri"/>
                <a:cs typeface="Calibri"/>
              </a:rPr>
              <a:t>Resultado: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60" dirty="0" err="1">
                <a:solidFill>
                  <a:srgbClr val="0A956E"/>
                </a:solidFill>
                <a:latin typeface="Calibri"/>
                <a:cs typeface="Calibri"/>
              </a:rPr>
              <a:t>Óptimo</a:t>
            </a:r>
            <a:r>
              <a:rPr sz="2200" spc="80" dirty="0">
                <a:solidFill>
                  <a:srgbClr val="0A956E"/>
                </a:solidFill>
                <a:latin typeface="Calibri"/>
                <a:cs typeface="Calibri"/>
              </a:rPr>
              <a:t> 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710"/>
              </a:lnSpc>
            </a:pPr>
            <a:r>
              <a:rPr sz="2300" spc="-10" dirty="0">
                <a:solidFill>
                  <a:srgbClr val="0A2B56"/>
                </a:solidFill>
                <a:latin typeface="Calibri"/>
                <a:cs typeface="Calibri"/>
              </a:rPr>
              <a:t>P2:</a:t>
            </a:r>
            <a:r>
              <a:rPr sz="2300" spc="-140" dirty="0">
                <a:solidFill>
                  <a:srgbClr val="0A2B56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002D59"/>
                </a:solidFill>
                <a:latin typeface="Calibri"/>
                <a:cs typeface="Calibri"/>
              </a:rPr>
              <a:t>Ingreso</a:t>
            </a:r>
            <a:r>
              <a:rPr sz="2300" spc="100" dirty="0">
                <a:solidFill>
                  <a:srgbClr val="002D59"/>
                </a:solidFill>
                <a:latin typeface="Calibri"/>
                <a:cs typeface="Calibri"/>
              </a:rPr>
              <a:t> </a:t>
            </a:r>
            <a:r>
              <a:rPr sz="2300" spc="60" dirty="0">
                <a:solidFill>
                  <a:srgbClr val="002A5B"/>
                </a:solidFill>
                <a:latin typeface="Calibri"/>
                <a:cs typeface="Calibri"/>
              </a:rPr>
              <a:t>Cero</a:t>
            </a:r>
            <a:endParaRPr sz="2300" dirty="0">
              <a:latin typeface="Calibri"/>
              <a:cs typeface="Calibri"/>
            </a:endParaRPr>
          </a:p>
          <a:p>
            <a:pPr marL="12700">
              <a:lnSpc>
                <a:spcPts val="2710"/>
              </a:lnSpc>
            </a:pPr>
            <a:r>
              <a:rPr sz="2300" spc="-50" dirty="0">
                <a:latin typeface="Calibri"/>
                <a:cs typeface="Calibri"/>
              </a:rPr>
              <a:t>Resultado: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40" dirty="0">
                <a:latin typeface="Calibri"/>
                <a:cs typeface="Calibri"/>
              </a:rPr>
              <a:t>Error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30" dirty="0">
                <a:latin typeface="Calibri"/>
                <a:cs typeface="Calibri"/>
              </a:rPr>
              <a:t>validado</a:t>
            </a:r>
            <a:r>
              <a:rPr sz="2300" spc="-1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correctamente.</a:t>
            </a:r>
            <a:endParaRPr sz="2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2300" dirty="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</a:pPr>
            <a:r>
              <a:rPr sz="2200" spc="80" dirty="0">
                <a:solidFill>
                  <a:srgbClr val="032F5B"/>
                </a:solidFill>
                <a:latin typeface="Calibri"/>
                <a:cs typeface="Calibri"/>
              </a:rPr>
              <a:t>P3:</a:t>
            </a:r>
            <a:r>
              <a:rPr sz="2200" spc="-145" dirty="0">
                <a:solidFill>
                  <a:srgbClr val="032F5B"/>
                </a:solidFill>
                <a:latin typeface="Calibri"/>
                <a:cs typeface="Calibri"/>
              </a:rPr>
              <a:t> </a:t>
            </a:r>
            <a:r>
              <a:rPr sz="2200" spc="100" dirty="0">
                <a:solidFill>
                  <a:srgbClr val="052D60"/>
                </a:solidFill>
                <a:latin typeface="Calibri"/>
                <a:cs typeface="Calibri"/>
              </a:rPr>
              <a:t>Porcentajes</a:t>
            </a:r>
            <a:r>
              <a:rPr sz="2200" spc="175" dirty="0">
                <a:solidFill>
                  <a:srgbClr val="052D60"/>
                </a:solidFill>
                <a:latin typeface="Calibri"/>
                <a:cs typeface="Calibri"/>
              </a:rPr>
              <a:t> </a:t>
            </a:r>
            <a:r>
              <a:rPr sz="2200" spc="120" dirty="0">
                <a:solidFill>
                  <a:srgbClr val="013169"/>
                </a:solidFill>
                <a:latin typeface="Calibri"/>
                <a:cs typeface="Calibri"/>
              </a:rPr>
              <a:t>Cero</a:t>
            </a:r>
            <a:endParaRPr sz="2200" dirty="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latin typeface="Calibri"/>
                <a:cs typeface="Calibri"/>
              </a:rPr>
              <a:t>Resultado: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Advertencia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de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asignación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mostrada.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3282622"/>
            <a:ext cx="94237" cy="11308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379" y="4727604"/>
            <a:ext cx="94237" cy="11308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6172586"/>
            <a:ext cx="94237" cy="113085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 rotWithShape="1">
          <a:blip r:embed="rId5" cstate="print"/>
          <a:srcRect r="46390" b="1795"/>
          <a:stretch/>
        </p:blipFill>
        <p:spPr>
          <a:xfrm>
            <a:off x="1264360" y="6463153"/>
            <a:ext cx="7035090" cy="715522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90"/>
              </a:spcBef>
            </a:pPr>
            <a:r>
              <a:rPr sz="6450" spc="80" dirty="0">
                <a:solidFill>
                  <a:srgbClr val="052D64"/>
                </a:solidFill>
                <a:latin typeface="Times New Roman"/>
                <a:cs typeface="Times New Roman"/>
              </a:rPr>
              <a:t>Pruebas</a:t>
            </a:r>
            <a:r>
              <a:rPr sz="6450" spc="30" dirty="0">
                <a:solidFill>
                  <a:srgbClr val="052D64"/>
                </a:solidFill>
                <a:latin typeface="Times New Roman"/>
                <a:cs typeface="Times New Roman"/>
              </a:rPr>
              <a:t> </a:t>
            </a:r>
            <a:r>
              <a:rPr sz="6450" spc="-195" dirty="0">
                <a:solidFill>
                  <a:srgbClr val="052862"/>
                </a:solidFill>
                <a:latin typeface="Times New Roman"/>
                <a:cs typeface="Times New Roman"/>
              </a:rPr>
              <a:t>M2:</a:t>
            </a:r>
            <a:r>
              <a:rPr sz="6450" spc="-580" dirty="0">
                <a:solidFill>
                  <a:srgbClr val="052862"/>
                </a:solidFill>
                <a:latin typeface="Times New Roman"/>
                <a:cs typeface="Times New Roman"/>
              </a:rPr>
              <a:t> </a:t>
            </a:r>
            <a:r>
              <a:rPr sz="6450" spc="-10" dirty="0">
                <a:solidFill>
                  <a:srgbClr val="052B5D"/>
                </a:solidFill>
                <a:latin typeface="Times New Roman"/>
                <a:cs typeface="Times New Roman"/>
              </a:rPr>
              <a:t>Comidas</a:t>
            </a:r>
            <a:endParaRPr sz="645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786568"/>
              </p:ext>
            </p:extLst>
          </p:nvPr>
        </p:nvGraphicFramePr>
        <p:xfrm>
          <a:off x="1217104" y="3532543"/>
          <a:ext cx="11456035" cy="2072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75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9494">
                <a:tc>
                  <a:txBody>
                    <a:bodyPr/>
                    <a:lstStyle/>
                    <a:p>
                      <a:pPr marL="34290">
                        <a:lnSpc>
                          <a:spcPts val="2275"/>
                        </a:lnSpc>
                      </a:pPr>
                      <a:r>
                        <a:rPr sz="2050" dirty="0">
                          <a:solidFill>
                            <a:srgbClr val="032F5B"/>
                          </a:solidFill>
                          <a:latin typeface="Arial MT"/>
                          <a:cs typeface="Arial MT"/>
                        </a:rPr>
                        <a:t>PI:</a:t>
                      </a:r>
                      <a:r>
                        <a:rPr sz="2050" spc="-175" dirty="0">
                          <a:solidFill>
                            <a:srgbClr val="032F5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dirty="0">
                          <a:solidFill>
                            <a:srgbClr val="013169"/>
                          </a:solidFill>
                          <a:latin typeface="Arial MT"/>
                          <a:cs typeface="Arial MT"/>
                        </a:rPr>
                        <a:t>Caso</a:t>
                      </a:r>
                      <a:r>
                        <a:rPr sz="2050" spc="85" dirty="0">
                          <a:solidFill>
                            <a:srgbClr val="01316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spc="50" dirty="0">
                          <a:solidFill>
                            <a:srgbClr val="082A60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endParaRPr sz="2050" dirty="0">
                        <a:latin typeface="Arial MT"/>
                        <a:cs typeface="Arial MT"/>
                      </a:endParaRPr>
                    </a:p>
                    <a:p>
                      <a:pPr marL="3429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50" spc="-25" dirty="0">
                          <a:latin typeface="Arial MT"/>
                          <a:cs typeface="Arial MT"/>
                        </a:rPr>
                        <a:t>Presupuesto</a:t>
                      </a:r>
                      <a:r>
                        <a:rPr sz="20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spc="-280" dirty="0">
                          <a:solidFill>
                            <a:srgbClr val="0C0C0C"/>
                          </a:solidFill>
                          <a:latin typeface="Arial MT"/>
                          <a:cs typeface="Arial MT"/>
                        </a:rPr>
                        <a:t>M1:</a:t>
                      </a:r>
                      <a:r>
                        <a:rPr sz="2050" spc="-85" dirty="0">
                          <a:solidFill>
                            <a:srgbClr val="0C0C0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spc="-105" dirty="0">
                          <a:latin typeface="Arial MT"/>
                          <a:cs typeface="Arial MT"/>
                        </a:rPr>
                        <a:t>Bs</a:t>
                      </a:r>
                      <a:r>
                        <a:rPr sz="2050" spc="-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spc="-254" dirty="0">
                          <a:latin typeface="Arial MT"/>
                          <a:cs typeface="Arial MT"/>
                        </a:rPr>
                        <a:t>12OO</a:t>
                      </a:r>
                      <a:r>
                        <a:rPr sz="20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dirty="0">
                          <a:solidFill>
                            <a:srgbClr val="A8C8DA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sz="2050" spc="-30" dirty="0">
                          <a:solidFill>
                            <a:srgbClr val="A8C8D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spc="-35" dirty="0">
                          <a:latin typeface="Arial MT"/>
                          <a:cs typeface="Arial MT"/>
                        </a:rPr>
                        <a:t>Resultado:</a:t>
                      </a:r>
                      <a:r>
                        <a:rPr sz="20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spc="155" dirty="0" err="1">
                          <a:solidFill>
                            <a:srgbClr val="009770"/>
                          </a:solidFill>
                          <a:latin typeface="Arial MT"/>
                          <a:cs typeface="Arial MT"/>
                        </a:rPr>
                        <a:t>óptimo</a:t>
                      </a:r>
                      <a:r>
                        <a:rPr sz="2050" spc="25" dirty="0">
                          <a:solidFill>
                            <a:srgbClr val="00977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endParaRPr sz="205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200" dirty="0">
                          <a:solidFill>
                            <a:srgbClr val="0A2B56"/>
                          </a:solidFill>
                          <a:latin typeface="Calibri"/>
                          <a:cs typeface="Calibri"/>
                        </a:rPr>
                        <a:t>P2:</a:t>
                      </a:r>
                      <a:r>
                        <a:rPr sz="2200" spc="200" dirty="0">
                          <a:solidFill>
                            <a:srgbClr val="0A2B5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00235E"/>
                          </a:solidFill>
                          <a:latin typeface="Calibri"/>
                          <a:cs typeface="Calibri"/>
                        </a:rPr>
                        <a:t>Validación</a:t>
                      </a:r>
                      <a:r>
                        <a:rPr sz="2200" spc="305" dirty="0">
                          <a:solidFill>
                            <a:srgbClr val="00235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90" dirty="0">
                          <a:solidFill>
                            <a:srgbClr val="003462"/>
                          </a:solidFill>
                          <a:latin typeface="Calibri"/>
                          <a:cs typeface="Calibri"/>
                        </a:rPr>
                        <a:t>Kcal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74930" algn="r">
                        <a:lnSpc>
                          <a:spcPct val="100000"/>
                        </a:lnSpc>
                      </a:pPr>
                      <a:r>
                        <a:rPr sz="2200" spc="-325" dirty="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”</a:t>
                      </a:r>
                      <a:r>
                        <a:rPr sz="2200" spc="405" dirty="0">
                          <a:solidFill>
                            <a:srgbClr val="5454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375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“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</a:pPr>
                      <a:endParaRPr sz="22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31750">
                        <a:lnSpc>
                          <a:spcPts val="2285"/>
                        </a:lnSpc>
                      </a:pPr>
                      <a:r>
                        <a:rPr sz="2200" spc="-50" dirty="0">
                          <a:latin typeface="Calibri"/>
                          <a:cs typeface="Calibri"/>
                        </a:rPr>
                        <a:t>Min</a:t>
                      </a:r>
                      <a:r>
                        <a:rPr sz="2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›</a:t>
                      </a:r>
                      <a:r>
                        <a:rPr sz="220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Max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genera</a:t>
                      </a:r>
                      <a:r>
                        <a:rPr sz="2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error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75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22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validación.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9695" algn="r">
                        <a:lnSpc>
                          <a:spcPts val="2285"/>
                        </a:lnSpc>
                      </a:pPr>
                      <a:r>
                        <a:rPr sz="2200" spc="-50" dirty="0">
                          <a:solidFill>
                            <a:srgbClr val="ACACAC"/>
                          </a:solidFill>
                          <a:latin typeface="Calibri"/>
                          <a:cs typeface="Calibri"/>
                        </a:rPr>
                        <a:t>“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ts val="2285"/>
                        </a:lnSpc>
                      </a:pPr>
                      <a:r>
                        <a:rPr sz="2200" dirty="0">
                          <a:solidFill>
                            <a:srgbClr val="9E9E9E"/>
                          </a:solidFill>
                          <a:latin typeface="Calibri"/>
                          <a:cs typeface="Calibri"/>
                        </a:rPr>
                        <a:t>°</a:t>
                      </a:r>
                      <a:r>
                        <a:rPr sz="2200" spc="85" dirty="0">
                          <a:solidFill>
                            <a:srgbClr val="9E9E9E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2200" spc="-325" dirty="0">
                          <a:solidFill>
                            <a:srgbClr val="B1B1B1"/>
                          </a:solidFill>
                          <a:latin typeface="Calibri"/>
                          <a:cs typeface="Calibri"/>
                        </a:rPr>
                        <a:t>’</a:t>
                      </a:r>
                      <a:endParaRPr sz="2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3282622"/>
            <a:ext cx="94237" cy="11308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379" y="4727604"/>
            <a:ext cx="94237" cy="11308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6172586"/>
            <a:ext cx="94237" cy="1130855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0" dirty="0">
                <a:solidFill>
                  <a:srgbClr val="052D64"/>
                </a:solidFill>
              </a:rPr>
              <a:t>Pruebas</a:t>
            </a:r>
            <a:r>
              <a:rPr spc="-275" dirty="0">
                <a:solidFill>
                  <a:srgbClr val="052D64"/>
                </a:solidFill>
              </a:rPr>
              <a:t> </a:t>
            </a:r>
            <a:r>
              <a:rPr spc="-10" dirty="0">
                <a:solidFill>
                  <a:srgbClr val="052862"/>
                </a:solidFill>
              </a:rPr>
              <a:t>M3:</a:t>
            </a:r>
            <a:r>
              <a:rPr spc="-385" dirty="0">
                <a:solidFill>
                  <a:srgbClr val="052862"/>
                </a:solidFill>
              </a:rPr>
              <a:t> </a:t>
            </a:r>
            <a:r>
              <a:rPr spc="-10" dirty="0">
                <a:solidFill>
                  <a:srgbClr val="082859"/>
                </a:solidFill>
              </a:rPr>
              <a:t>Estudios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34779" y="3478685"/>
            <a:ext cx="5711825" cy="36612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">
              <a:lnSpc>
                <a:spcPts val="2620"/>
              </a:lnSpc>
              <a:spcBef>
                <a:spcPts val="90"/>
              </a:spcBef>
            </a:pPr>
            <a:r>
              <a:rPr sz="2200" spc="-45" dirty="0">
                <a:solidFill>
                  <a:srgbClr val="032F5B"/>
                </a:solidFill>
                <a:latin typeface="Arial MT"/>
                <a:cs typeface="Arial MT"/>
              </a:rPr>
              <a:t>Pt:</a:t>
            </a:r>
            <a:r>
              <a:rPr sz="2200" spc="-240" dirty="0">
                <a:solidFill>
                  <a:srgbClr val="032F5B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013169"/>
                </a:solidFill>
                <a:latin typeface="Arial MT"/>
                <a:cs typeface="Arial MT"/>
              </a:rPr>
              <a:t>Caso</a:t>
            </a:r>
            <a:r>
              <a:rPr sz="2200" spc="-55" dirty="0">
                <a:solidFill>
                  <a:srgbClr val="01316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82A60"/>
                </a:solidFill>
                <a:latin typeface="Arial MT"/>
                <a:cs typeface="Arial MT"/>
              </a:rPr>
              <a:t>Normal</a:t>
            </a:r>
            <a:endParaRPr sz="2200" dirty="0">
              <a:latin typeface="Arial MT"/>
              <a:cs typeface="Arial MT"/>
            </a:endParaRPr>
          </a:p>
          <a:p>
            <a:pPr marL="26670">
              <a:lnSpc>
                <a:spcPts val="2620"/>
              </a:lnSpc>
            </a:pPr>
            <a:r>
              <a:rPr sz="2200" spc="-90" dirty="0">
                <a:latin typeface="Arial MT"/>
                <a:cs typeface="Arial MT"/>
              </a:rPr>
              <a:t>6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materias,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0A0A0A"/>
                </a:solidFill>
                <a:latin typeface="Arial MT"/>
                <a:cs typeface="Arial MT"/>
              </a:rPr>
              <a:t>3</a:t>
            </a:r>
            <a:r>
              <a:rPr sz="2200" spc="-13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bloques/día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0F0F0F"/>
                </a:solidFill>
                <a:latin typeface="Arial MT"/>
                <a:cs typeface="Arial MT"/>
              </a:rPr>
              <a:t>I</a:t>
            </a:r>
            <a:r>
              <a:rPr sz="2200" spc="-1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latin typeface="Arial MT"/>
                <a:cs typeface="Arial MT"/>
              </a:rPr>
              <a:t>Resultado: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 err="1">
                <a:solidFill>
                  <a:srgbClr val="00996E"/>
                </a:solidFill>
                <a:latin typeface="Arial MT"/>
                <a:cs typeface="Arial MT"/>
              </a:rPr>
              <a:t>Óptimo</a:t>
            </a:r>
            <a:r>
              <a:rPr sz="2200" spc="45" dirty="0">
                <a:solidFill>
                  <a:srgbClr val="00996E"/>
                </a:solidFill>
                <a:latin typeface="Arial MT"/>
                <a:cs typeface="Arial MT"/>
              </a:rPr>
              <a:t> 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200" dirty="0">
              <a:latin typeface="Arial MT"/>
              <a:cs typeface="Arial MT"/>
            </a:endParaRPr>
          </a:p>
          <a:p>
            <a:pPr marL="15875">
              <a:lnSpc>
                <a:spcPts val="2590"/>
              </a:lnSpc>
            </a:pPr>
            <a:r>
              <a:rPr sz="2200" spc="-145" dirty="0">
                <a:solidFill>
                  <a:srgbClr val="0A2B56"/>
                </a:solidFill>
                <a:latin typeface="Arial MT"/>
                <a:cs typeface="Arial MT"/>
              </a:rPr>
              <a:t>P2:</a:t>
            </a:r>
            <a:r>
              <a:rPr sz="2200" spc="-190" dirty="0">
                <a:solidFill>
                  <a:srgbClr val="0A2B56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002B56"/>
                </a:solidFill>
                <a:latin typeface="Arial MT"/>
                <a:cs typeface="Arial MT"/>
              </a:rPr>
              <a:t>Bloqueo</a:t>
            </a:r>
            <a:r>
              <a:rPr sz="2200" spc="-65" dirty="0">
                <a:solidFill>
                  <a:srgbClr val="002B56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2D6E"/>
                </a:solidFill>
                <a:latin typeface="Arial MT"/>
                <a:cs typeface="Arial MT"/>
              </a:rPr>
              <a:t>Total</a:t>
            </a:r>
            <a:endParaRPr sz="2200" dirty="0">
              <a:latin typeface="Arial MT"/>
              <a:cs typeface="Arial MT"/>
            </a:endParaRPr>
          </a:p>
          <a:p>
            <a:pPr marL="15240">
              <a:lnSpc>
                <a:spcPts val="2590"/>
              </a:lnSpc>
            </a:pPr>
            <a:r>
              <a:rPr sz="2200" spc="-90" dirty="0">
                <a:latin typeface="Arial MT"/>
                <a:cs typeface="Arial MT"/>
              </a:rPr>
              <a:t>Error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40" dirty="0">
                <a:solidFill>
                  <a:srgbClr val="070707"/>
                </a:solidFill>
                <a:latin typeface="Arial MT"/>
                <a:cs typeface="Arial MT"/>
              </a:rPr>
              <a:t>al</a:t>
            </a:r>
            <a:r>
              <a:rPr sz="2200" spc="-45" dirty="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intentar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bloquear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todos</a:t>
            </a:r>
            <a:r>
              <a:rPr sz="2200" spc="-90" dirty="0">
                <a:latin typeface="Arial MT"/>
                <a:cs typeface="Arial MT"/>
              </a:rPr>
              <a:t> los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horarios.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200" dirty="0">
              <a:latin typeface="Arial MT"/>
              <a:cs typeface="Arial MT"/>
            </a:endParaRPr>
          </a:p>
          <a:p>
            <a:pPr marL="12700">
              <a:lnSpc>
                <a:spcPts val="2710"/>
              </a:lnSpc>
            </a:pPr>
            <a:r>
              <a:rPr sz="2300" dirty="0">
                <a:solidFill>
                  <a:srgbClr val="032F5B"/>
                </a:solidFill>
                <a:latin typeface="Calibri"/>
                <a:cs typeface="Calibri"/>
              </a:rPr>
              <a:t>P3:</a:t>
            </a:r>
            <a:r>
              <a:rPr sz="2300" spc="-114" dirty="0">
                <a:solidFill>
                  <a:srgbClr val="032F5B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052D60"/>
                </a:solidFill>
                <a:latin typeface="Calibri"/>
                <a:cs typeface="Calibri"/>
              </a:rPr>
              <a:t>Restricción</a:t>
            </a:r>
            <a:r>
              <a:rPr sz="2300" spc="120" dirty="0">
                <a:solidFill>
                  <a:srgbClr val="052D60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0A3675"/>
                </a:solidFill>
                <a:latin typeface="Calibri"/>
                <a:cs typeface="Calibri"/>
              </a:rPr>
              <a:t>Max</a:t>
            </a:r>
            <a:endParaRPr sz="2300" dirty="0">
              <a:latin typeface="Calibri"/>
              <a:cs typeface="Calibri"/>
            </a:endParaRPr>
          </a:p>
          <a:p>
            <a:pPr marL="12700">
              <a:lnSpc>
                <a:spcPts val="2710"/>
              </a:lnSpc>
            </a:pPr>
            <a:r>
              <a:rPr sz="2300" spc="-145" dirty="0">
                <a:solidFill>
                  <a:srgbClr val="0A0A0A"/>
                </a:solidFill>
                <a:latin typeface="Calibri"/>
                <a:cs typeface="Calibri"/>
              </a:rPr>
              <a:t>Max</a:t>
            </a:r>
            <a:r>
              <a:rPr sz="2300" spc="-7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300" spc="-595" dirty="0">
                <a:solidFill>
                  <a:srgbClr val="181818"/>
                </a:solidFill>
                <a:latin typeface="Calibri"/>
                <a:cs typeface="Calibri"/>
              </a:rPr>
              <a:t>1</a:t>
            </a:r>
            <a:r>
              <a:rPr sz="2300" spc="10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00" spc="-45" dirty="0">
                <a:latin typeface="Calibri"/>
                <a:cs typeface="Calibri"/>
              </a:rPr>
              <a:t>bloque/día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spc="-35" dirty="0">
                <a:latin typeface="Calibri"/>
                <a:cs typeface="Calibri"/>
              </a:rPr>
              <a:t>genera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calendario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válido.</a:t>
            </a:r>
            <a:endParaRPr sz="2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3282622"/>
            <a:ext cx="94237" cy="11308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379" y="4727604"/>
            <a:ext cx="94237" cy="11308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379" y="6172586"/>
            <a:ext cx="94237" cy="113085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0" dirty="0">
                <a:solidFill>
                  <a:srgbClr val="052D64"/>
                </a:solidFill>
              </a:rPr>
              <a:t>Pruebas</a:t>
            </a:r>
            <a:r>
              <a:rPr spc="-285" dirty="0">
                <a:solidFill>
                  <a:srgbClr val="052D64"/>
                </a:solidFill>
              </a:rPr>
              <a:t> </a:t>
            </a:r>
            <a:r>
              <a:rPr spc="95" dirty="0">
                <a:solidFill>
                  <a:srgbClr val="052862"/>
                </a:solidFill>
              </a:rPr>
              <a:t>M4:</a:t>
            </a:r>
            <a:r>
              <a:rPr spc="-445" dirty="0">
                <a:solidFill>
                  <a:srgbClr val="052862"/>
                </a:solidFill>
              </a:rPr>
              <a:t> </a:t>
            </a:r>
            <a:r>
              <a:rPr spc="-10" dirty="0">
                <a:solidFill>
                  <a:srgbClr val="012F59"/>
                </a:solidFill>
              </a:rPr>
              <a:t>Bienestar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21373" y="3478685"/>
            <a:ext cx="4795520" cy="36176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209">
              <a:lnSpc>
                <a:spcPts val="2590"/>
              </a:lnSpc>
              <a:spcBef>
                <a:spcPts val="90"/>
              </a:spcBef>
            </a:pPr>
            <a:r>
              <a:rPr sz="2200" spc="-45" dirty="0">
                <a:solidFill>
                  <a:srgbClr val="032F5B"/>
                </a:solidFill>
                <a:latin typeface="Arial MT"/>
                <a:cs typeface="Arial MT"/>
              </a:rPr>
              <a:t>PI:</a:t>
            </a:r>
            <a:r>
              <a:rPr sz="2200" spc="-240" dirty="0">
                <a:solidFill>
                  <a:srgbClr val="032F5B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033166"/>
                </a:solidFill>
                <a:latin typeface="Arial MT"/>
                <a:cs typeface="Arial MT"/>
              </a:rPr>
              <a:t>Caso</a:t>
            </a:r>
            <a:r>
              <a:rPr sz="2200" spc="-55" dirty="0">
                <a:solidFill>
                  <a:srgbClr val="033166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82A60"/>
                </a:solidFill>
                <a:latin typeface="Arial MT"/>
                <a:cs typeface="Arial MT"/>
              </a:rPr>
              <a:t>Normal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ts val="2590"/>
              </a:lnSpc>
            </a:pPr>
            <a:r>
              <a:rPr sz="2200" spc="-204" dirty="0">
                <a:solidFill>
                  <a:srgbClr val="050505"/>
                </a:solidFill>
                <a:latin typeface="Arial MT"/>
                <a:cs typeface="Arial MT"/>
              </a:rPr>
              <a:t>14h</a:t>
            </a:r>
            <a:r>
              <a:rPr sz="2200" spc="-8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libres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70" dirty="0">
                <a:latin typeface="Arial MT"/>
                <a:cs typeface="Arial MT"/>
              </a:rPr>
              <a:t>de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90" dirty="0">
                <a:solidFill>
                  <a:srgbClr val="0A0A0A"/>
                </a:solidFill>
                <a:latin typeface="Arial MT"/>
                <a:cs typeface="Arial MT"/>
              </a:rPr>
              <a:t>M3</a:t>
            </a:r>
            <a:r>
              <a:rPr sz="2200" spc="-13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B1C8D6"/>
                </a:solidFill>
                <a:latin typeface="Arial MT"/>
                <a:cs typeface="Arial MT"/>
              </a:rPr>
              <a:t>I</a:t>
            </a:r>
            <a:r>
              <a:rPr sz="2200" spc="-120" dirty="0">
                <a:solidFill>
                  <a:srgbClr val="B1C8D6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latin typeface="Arial MT"/>
                <a:cs typeface="Arial MT"/>
              </a:rPr>
              <a:t>Resultado: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 err="1">
                <a:solidFill>
                  <a:srgbClr val="059366"/>
                </a:solidFill>
                <a:latin typeface="Arial MT"/>
                <a:cs typeface="Arial MT"/>
              </a:rPr>
              <a:t>Óptimo</a:t>
            </a:r>
            <a:r>
              <a:rPr sz="2200" spc="50" dirty="0">
                <a:solidFill>
                  <a:srgbClr val="059366"/>
                </a:solidFill>
                <a:latin typeface="Arial MT"/>
                <a:cs typeface="Arial MT"/>
              </a:rPr>
              <a:t> 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200" dirty="0">
              <a:latin typeface="Arial MT"/>
              <a:cs typeface="Arial MT"/>
            </a:endParaRPr>
          </a:p>
          <a:p>
            <a:pPr marL="27305">
              <a:lnSpc>
                <a:spcPct val="100000"/>
              </a:lnSpc>
            </a:pPr>
            <a:r>
              <a:rPr sz="2200" dirty="0">
                <a:solidFill>
                  <a:srgbClr val="0A2B56"/>
                </a:solidFill>
                <a:latin typeface="Calibri"/>
                <a:cs typeface="Calibri"/>
              </a:rPr>
              <a:t>P2:</a:t>
            </a:r>
            <a:r>
              <a:rPr sz="2200" spc="-10" dirty="0">
                <a:solidFill>
                  <a:srgbClr val="0A2B5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A54"/>
                </a:solidFill>
                <a:latin typeface="Calibri"/>
                <a:cs typeface="Calibri"/>
              </a:rPr>
              <a:t>Sin</a:t>
            </a:r>
            <a:r>
              <a:rPr sz="2200" spc="245" dirty="0">
                <a:solidFill>
                  <a:srgbClr val="002A54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002159"/>
                </a:solidFill>
                <a:latin typeface="Calibri"/>
                <a:cs typeface="Calibri"/>
              </a:rPr>
              <a:t>Mt</a:t>
            </a:r>
            <a:endParaRPr sz="220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latin typeface="Calibri"/>
                <a:cs typeface="Calibri"/>
              </a:rPr>
              <a:t>Advertencia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de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flujo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75" dirty="0">
                <a:solidFill>
                  <a:srgbClr val="0C0C0C"/>
                </a:solidFill>
                <a:latin typeface="Calibri"/>
                <a:cs typeface="Calibri"/>
              </a:rPr>
              <a:t>de</a:t>
            </a:r>
            <a:r>
              <a:rPr sz="22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datos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bloqueada.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200" dirty="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</a:pPr>
            <a:r>
              <a:rPr sz="2200" spc="80" dirty="0">
                <a:solidFill>
                  <a:srgbClr val="032F5B"/>
                </a:solidFill>
                <a:latin typeface="Calibri"/>
                <a:cs typeface="Calibri"/>
              </a:rPr>
              <a:t>P3:</a:t>
            </a:r>
            <a:r>
              <a:rPr sz="2200" spc="-100" dirty="0">
                <a:solidFill>
                  <a:srgbClr val="032F5B"/>
                </a:solidFill>
                <a:latin typeface="Calibri"/>
                <a:cs typeface="Calibri"/>
              </a:rPr>
              <a:t> </a:t>
            </a:r>
            <a:r>
              <a:rPr sz="2200" spc="75" dirty="0">
                <a:solidFill>
                  <a:srgbClr val="032F5D"/>
                </a:solidFill>
                <a:latin typeface="Calibri"/>
                <a:cs typeface="Calibri"/>
              </a:rPr>
              <a:t>Sin</a:t>
            </a:r>
            <a:r>
              <a:rPr sz="2200" spc="5" dirty="0">
                <a:solidFill>
                  <a:srgbClr val="032F5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00337B"/>
                </a:solidFill>
                <a:latin typeface="Calibri"/>
                <a:cs typeface="Calibri"/>
              </a:rPr>
              <a:t>M3</a:t>
            </a:r>
            <a:endParaRPr sz="220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latin typeface="Calibri"/>
                <a:cs typeface="Calibri"/>
              </a:rPr>
              <a:t>Advertencia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80808"/>
                </a:solidFill>
                <a:latin typeface="Calibri"/>
                <a:cs typeface="Calibri"/>
              </a:rPr>
              <a:t>falta</a:t>
            </a:r>
            <a:r>
              <a:rPr sz="2200" spc="1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horas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libres.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7276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66613" y="3334711"/>
            <a:ext cx="11351895" cy="1380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850" spc="-160" dirty="0">
                <a:solidFill>
                  <a:srgbClr val="012D5B"/>
                </a:solidFill>
              </a:rPr>
              <a:t>jGracias</a:t>
            </a:r>
            <a:r>
              <a:rPr sz="8850" spc="-175" dirty="0">
                <a:solidFill>
                  <a:srgbClr val="012D5B"/>
                </a:solidFill>
              </a:rPr>
              <a:t> </a:t>
            </a:r>
            <a:r>
              <a:rPr sz="8850" spc="-270" dirty="0">
                <a:solidFill>
                  <a:srgbClr val="002F59"/>
                </a:solidFill>
              </a:rPr>
              <a:t>por</a:t>
            </a:r>
            <a:r>
              <a:rPr sz="8850" spc="-100" dirty="0">
                <a:solidFill>
                  <a:srgbClr val="002F59"/>
                </a:solidFill>
              </a:rPr>
              <a:t> </a:t>
            </a:r>
            <a:r>
              <a:rPr sz="8850" spc="-60" dirty="0">
                <a:solidFill>
                  <a:srgbClr val="002F5B"/>
                </a:solidFill>
              </a:rPr>
              <a:t>su</a:t>
            </a:r>
            <a:r>
              <a:rPr sz="8850" spc="-430" dirty="0">
                <a:solidFill>
                  <a:srgbClr val="002F5B"/>
                </a:solidFill>
              </a:rPr>
              <a:t> </a:t>
            </a:r>
            <a:r>
              <a:rPr sz="8850" spc="-120" dirty="0">
                <a:solidFill>
                  <a:srgbClr val="003157"/>
                </a:solidFill>
              </a:rPr>
              <a:t>atención!</a:t>
            </a:r>
            <a:endParaRPr sz="8850"/>
          </a:p>
        </p:txBody>
      </p:sp>
      <p:sp>
        <p:nvSpPr>
          <p:cNvPr id="4" name="object 4"/>
          <p:cNvSpPr txBox="1"/>
          <p:nvPr/>
        </p:nvSpPr>
        <p:spPr>
          <a:xfrm>
            <a:off x="6350056" y="5045392"/>
            <a:ext cx="7364730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120" dirty="0">
                <a:latin typeface="Cambria"/>
                <a:cs typeface="Cambria"/>
              </a:rPr>
              <a:t>OptiVida</a:t>
            </a:r>
            <a:r>
              <a:rPr sz="2950" spc="254" dirty="0">
                <a:latin typeface="Cambria"/>
                <a:cs typeface="Cambria"/>
              </a:rPr>
              <a:t> </a:t>
            </a:r>
            <a:r>
              <a:rPr sz="2950" spc="-1595" dirty="0">
                <a:solidFill>
                  <a:srgbClr val="0A0A0A"/>
                </a:solidFill>
                <a:latin typeface="Cambria"/>
                <a:cs typeface="Cambria"/>
              </a:rPr>
              <a:t>—</a:t>
            </a:r>
            <a:r>
              <a:rPr sz="2950" spc="229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2950" spc="95" dirty="0">
                <a:latin typeface="Cambria"/>
                <a:cs typeface="Cambria"/>
              </a:rPr>
              <a:t>Optimizando</a:t>
            </a:r>
            <a:r>
              <a:rPr sz="2950" spc="400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la</a:t>
            </a:r>
            <a:r>
              <a:rPr sz="2950" spc="190" dirty="0">
                <a:latin typeface="Cambria"/>
                <a:cs typeface="Cambria"/>
              </a:rPr>
              <a:t> </a:t>
            </a:r>
            <a:r>
              <a:rPr sz="2950" spc="65" dirty="0">
                <a:latin typeface="Cambria"/>
                <a:cs typeface="Cambria"/>
              </a:rPr>
              <a:t>Vida</a:t>
            </a:r>
            <a:r>
              <a:rPr sz="2950" spc="24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Estudiantil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74988" y="6434092"/>
            <a:ext cx="5738495" cy="129032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662305">
              <a:lnSpc>
                <a:spcPct val="113599"/>
              </a:lnSpc>
              <a:spcBef>
                <a:spcPts val="35"/>
              </a:spcBef>
            </a:pPr>
            <a:r>
              <a:rPr sz="2450" spc="70" dirty="0">
                <a:solidFill>
                  <a:srgbClr val="494949"/>
                </a:solidFill>
                <a:latin typeface="Cambria"/>
                <a:cs typeface="Cambria"/>
              </a:rPr>
              <a:t>Estudiante:</a:t>
            </a:r>
            <a:r>
              <a:rPr sz="2450" spc="114" dirty="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sz="2450" dirty="0">
                <a:solidFill>
                  <a:srgbClr val="464646"/>
                </a:solidFill>
                <a:latin typeface="Cambria"/>
                <a:cs typeface="Cambria"/>
              </a:rPr>
              <a:t>Belen</a:t>
            </a:r>
            <a:r>
              <a:rPr sz="2450" spc="170" dirty="0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sz="2450" dirty="0">
                <a:solidFill>
                  <a:srgbClr val="464646"/>
                </a:solidFill>
                <a:latin typeface="Cambria"/>
                <a:cs typeface="Cambria"/>
              </a:rPr>
              <a:t>Mejia</a:t>
            </a:r>
            <a:r>
              <a:rPr sz="2450" spc="125" dirty="0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Cambria"/>
                <a:cs typeface="Cambria"/>
              </a:rPr>
              <a:t>Medina </a:t>
            </a:r>
            <a:r>
              <a:rPr sz="2450" dirty="0">
                <a:solidFill>
                  <a:srgbClr val="3B3B3B"/>
                </a:solidFill>
                <a:latin typeface="Cambria"/>
                <a:cs typeface="Cambria"/>
              </a:rPr>
              <a:t>Proyecto</a:t>
            </a:r>
            <a:r>
              <a:rPr sz="2450" spc="160" dirty="0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sz="2450" spc="-50" dirty="0">
                <a:solidFill>
                  <a:srgbClr val="505050"/>
                </a:solidFill>
                <a:latin typeface="Cambria"/>
                <a:cs typeface="Cambria"/>
              </a:rPr>
              <a:t>Final</a:t>
            </a:r>
            <a:r>
              <a:rPr sz="2450" spc="229" dirty="0">
                <a:solidFill>
                  <a:srgbClr val="505050"/>
                </a:solidFill>
                <a:latin typeface="Cambria"/>
                <a:cs typeface="Cambria"/>
              </a:rPr>
              <a:t> </a:t>
            </a:r>
            <a:r>
              <a:rPr sz="2450" spc="-1400" dirty="0">
                <a:solidFill>
                  <a:srgbClr val="424242"/>
                </a:solidFill>
                <a:latin typeface="Cambria"/>
                <a:cs typeface="Cambria"/>
              </a:rPr>
              <a:t>—</a:t>
            </a:r>
            <a:r>
              <a:rPr sz="2450" spc="270" dirty="0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sz="2450" dirty="0">
                <a:solidFill>
                  <a:srgbClr val="424242"/>
                </a:solidFill>
                <a:latin typeface="Cambria"/>
                <a:cs typeface="Cambria"/>
              </a:rPr>
              <a:t>Asignatura</a:t>
            </a:r>
            <a:r>
              <a:rPr sz="2450" spc="200" dirty="0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sz="2450" spc="-10" dirty="0">
                <a:solidFill>
                  <a:srgbClr val="444444"/>
                </a:solidFill>
                <a:latin typeface="Cambria"/>
                <a:cs typeface="Cambria"/>
              </a:rPr>
              <a:t>Optimización </a:t>
            </a:r>
            <a:r>
              <a:rPr sz="2450" dirty="0">
                <a:solidFill>
                  <a:srgbClr val="383838"/>
                </a:solidFill>
                <a:latin typeface="Cambria"/>
                <a:cs typeface="Cambria"/>
              </a:rPr>
              <a:t>Universidad</a:t>
            </a:r>
            <a:r>
              <a:rPr sz="2450" spc="215" dirty="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sz="2450" spc="55" dirty="0">
                <a:solidFill>
                  <a:srgbClr val="3D3D3D"/>
                </a:solidFill>
                <a:latin typeface="Cambria"/>
                <a:cs typeface="Cambria"/>
              </a:rPr>
              <a:t>Católica</a:t>
            </a:r>
            <a:r>
              <a:rPr sz="2450" spc="130" dirty="0">
                <a:solidFill>
                  <a:srgbClr val="3D3D3D"/>
                </a:solidFill>
                <a:latin typeface="Cambria"/>
                <a:cs typeface="Cambria"/>
              </a:rPr>
              <a:t> </a:t>
            </a:r>
            <a:r>
              <a:rPr sz="2450" spc="-50" dirty="0">
                <a:solidFill>
                  <a:srgbClr val="464646"/>
                </a:solidFill>
                <a:latin typeface="Cambria"/>
                <a:cs typeface="Cambria"/>
              </a:rPr>
              <a:t>Boliviana</a:t>
            </a:r>
            <a:r>
              <a:rPr sz="2450" spc="50" dirty="0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sz="2450" dirty="0">
                <a:solidFill>
                  <a:srgbClr val="494949"/>
                </a:solidFill>
                <a:latin typeface="Cambria"/>
                <a:cs typeface="Cambria"/>
              </a:rPr>
              <a:t>"San</a:t>
            </a:r>
            <a:r>
              <a:rPr sz="2450" spc="140" dirty="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sz="2450" spc="-35" dirty="0">
                <a:solidFill>
                  <a:srgbClr val="3D3D3D"/>
                </a:solidFill>
                <a:latin typeface="Cambria"/>
                <a:cs typeface="Cambria"/>
              </a:rPr>
              <a:t>Pablo"</a:t>
            </a:r>
            <a:endParaRPr sz="2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585</Words>
  <Application>Microsoft Office PowerPoint</Application>
  <PresentationFormat>Personalizado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 MT</vt:lpstr>
      <vt:lpstr>Calibri</vt:lpstr>
      <vt:lpstr>Cambria</vt:lpstr>
      <vt:lpstr>Consolas</vt:lpstr>
      <vt:lpstr>Times New Roman</vt:lpstr>
      <vt:lpstr>Office Theme</vt:lpstr>
      <vt:lpstr>Sistema de Optimización de Vida Estudiantil</vt:lpstr>
      <vt:lpstr>Contexto del Proyecto</vt:lpstr>
      <vt:lpstr>Objetivos del Proyecto</vt:lpstr>
      <vt:lpstr>Estructura del Sistema</vt:lpstr>
      <vt:lpstr>Componentes Principales</vt:lpstr>
      <vt:lpstr>Metodología de Uso</vt:lpstr>
      <vt:lpstr>Ecosistema Tecnológico</vt:lpstr>
      <vt:lpstr>Pruebas Ml: Presupuesto</vt:lpstr>
      <vt:lpstr>Pruebas M2: Comidas</vt:lpstr>
      <vt:lpstr>Pruebas M3: Estudios</vt:lpstr>
      <vt:lpstr>Pruebas M4: Bienestar</vt:lpstr>
      <vt:lpstr>jGracias por su atención!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Belen Mejia Medina</cp:lastModifiedBy>
  <cp:revision>1</cp:revision>
  <dcterms:created xsi:type="dcterms:W3CDTF">2026-06-11T15:49:29Z</dcterms:created>
  <dcterms:modified xsi:type="dcterms:W3CDTF">2026-06-11T22:56:39Z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2026-06-11T00:00:00Z</vt:filetime>
  </property>
  <property fmtid="{D5CDD505-2E9C-101B-9397-08002B2CF9AE}" pid="4" name="LastSaved">
    <vt:filetime>2026-06-11T00:00:00Z</vt:filetime>
  </property>
</Properties>
</file>